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79563DAA-B3B3-407B-9E34-DA3B0FB07DBF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42A04B4-E18E-4533-8259-A2B4D7A0F45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154A503-4BDA-4CE1-A247-CBCE8FCE165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6FE8E30-0AF8-4382-A290-DEB870277D1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3F5DEC3-1A8E-4885-93AE-EF0BE5FCE34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0B32F87-FB2B-4824-A054-66B29A0C9DC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EE488D1-F725-4443-A35E-B46C1FCF4A6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6A22296-06F6-4481-8238-58DCB40B47B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865ED01-9D39-4D7D-946B-25C155924E6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378B570-87F8-4655-A388-29664307C81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E4D72E5-5DED-41F0-A844-542ACAAC246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FCFF707-1FC8-409F-BDF4-625B5E859F6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0DCDFB5-7066-4718-8899-50C4D2E34AE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CDCF3E9-0D0B-458B-AFBB-EE935D3FF30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7347021-027B-4BBA-BB6F-DC7E50A37B9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8.png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0.png"/><Relationship Id="rId3" Type="http://schemas.openxmlformats.org/officeDocument/2006/relationships/image" Target="../media/image12.png"/><Relationship Id="rId4" Type="http://schemas.openxmlformats.org/officeDocument/2006/relationships/image" Target="../media/image4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0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15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5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9.jpeg"/><Relationship Id="rId3" Type="http://schemas.openxmlformats.org/officeDocument/2006/relationships/image" Target="../media/image30.png"/><Relationship Id="rId4" Type="http://schemas.openxmlformats.org/officeDocument/2006/relationships/image" Target="../media/image31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9.png"/><Relationship Id="rId3" Type="http://schemas.openxmlformats.org/officeDocument/2006/relationships/image" Target="../media/image3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3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8778240" y="3840480"/>
            <a:ext cx="5943240" cy="5943240"/>
          </a:xfrm>
          <a:prstGeom prst="ellipse">
            <a:avLst/>
          </a:prstGeom>
          <a:solidFill>
            <a:srgbClr val="0f766e">
              <a:alpha val="3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-2011680" y="-2377440"/>
            <a:ext cx="4754520" cy="4754520"/>
          </a:xfrm>
          <a:prstGeom prst="ellipse">
            <a:avLst/>
          </a:prstGeom>
          <a:solidFill>
            <a:srgbClr val="5eead4">
              <a:alpha val="14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822960" y="685800"/>
            <a:ext cx="2285640" cy="84096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0">
            <a:noFill/>
          </a:ln>
          <a:effectLst>
            <a:outerShdw algn="bl" blurRad="127080" dir="5400000" dist="38160" kx="0" ky="0" rotWithShape="0" sx="100000" sy="100000">
              <a:srgbClr val="0b3b3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" name="Image 0" descr="assets/benzi-logo.png"/>
          <p:cNvPicPr/>
          <p:nvPr/>
        </p:nvPicPr>
        <p:blipFill>
          <a:blip r:embed="rId1"/>
          <a:stretch/>
        </p:blipFill>
        <p:spPr>
          <a:xfrm>
            <a:off x="1207080" y="905400"/>
            <a:ext cx="1517400" cy="512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" name="Text 3"/>
          <p:cNvSpPr/>
          <p:nvPr/>
        </p:nvSpPr>
        <p:spPr>
          <a:xfrm>
            <a:off x="868680" y="1938600"/>
            <a:ext cx="10058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pc="300" strike="noStrike">
                <a:solidFill>
                  <a:srgbClr val="5eead4"/>
                </a:solidFill>
                <a:effectLst/>
                <a:uFillTx/>
                <a:latin typeface="Calibri"/>
                <a:ea typeface="Calibri"/>
              </a:rPr>
              <a:t>FINAL YEAR PROJECT  ·  FINAL EVALUATION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4"/>
          <p:cNvSpPr/>
          <p:nvPr/>
        </p:nvSpPr>
        <p:spPr>
          <a:xfrm>
            <a:off x="841320" y="2286000"/>
            <a:ext cx="1024092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4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An AI-Assisted Mental Health</a:t>
            </a:r>
            <a:endParaRPr lang="en-US" sz="4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4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Support Platform</a:t>
            </a:r>
            <a:endParaRPr lang="en-US" sz="4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5"/>
          <p:cNvSpPr/>
          <p:nvPr/>
        </p:nvSpPr>
        <p:spPr>
          <a:xfrm>
            <a:off x="868680" y="3913560"/>
            <a:ext cx="8777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0" i="1" u="none" strike="noStrike">
                <a:solidFill>
                  <a:srgbClr val="bfe9e1"/>
                </a:solidFill>
                <a:effectLst/>
                <a:uFillTx/>
                <a:latin typeface="Calibri"/>
                <a:ea typeface="Calibri"/>
              </a:rPr>
              <a:t>Compassionate, always-available support that bridges the gap between therapy sessions.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6"/>
          <p:cNvSpPr/>
          <p:nvPr/>
        </p:nvSpPr>
        <p:spPr>
          <a:xfrm>
            <a:off x="868680" y="4709160"/>
            <a:ext cx="10423800" cy="1691280"/>
          </a:xfrm>
          <a:prstGeom prst="roundRect">
            <a:avLst>
              <a:gd name="adj" fmla="val 5405"/>
            </a:avLst>
          </a:prstGeom>
          <a:solidFill>
            <a:srgbClr val="072b29"/>
          </a:solidFill>
          <a:ln w="127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7"/>
          <p:cNvSpPr/>
          <p:nvPr/>
        </p:nvSpPr>
        <p:spPr>
          <a:xfrm>
            <a:off x="1234440" y="49104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pc="201" strike="noStrike">
                <a:solidFill>
                  <a:srgbClr val="5eead4"/>
                </a:solidFill>
                <a:effectLst/>
                <a:uFillTx/>
                <a:latin typeface="Calibri"/>
                <a:ea typeface="Calibri"/>
              </a:rPr>
              <a:t>PROJECT GROUP  ·  F25CS186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8"/>
          <p:cNvSpPr/>
          <p:nvPr/>
        </p:nvSpPr>
        <p:spPr>
          <a:xfrm>
            <a:off x="1234440" y="5257800"/>
            <a:ext cx="2742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Sameed Saeed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9fd3cc"/>
                </a:solidFill>
                <a:effectLst/>
                <a:uFillTx/>
                <a:latin typeface="Calibri"/>
                <a:ea typeface="Calibri"/>
              </a:rPr>
              <a:t>L1F22BSCS0956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9"/>
          <p:cNvSpPr/>
          <p:nvPr/>
        </p:nvSpPr>
        <p:spPr>
          <a:xfrm>
            <a:off x="4023360" y="5257800"/>
            <a:ext cx="2742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Hassan Hayat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9fd3cc"/>
                </a:solidFill>
                <a:effectLst/>
                <a:uFillTx/>
                <a:latin typeface="Calibri"/>
                <a:ea typeface="Calibri"/>
              </a:rPr>
              <a:t>L1F22BSCS0976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0"/>
          <p:cNvSpPr/>
          <p:nvPr/>
        </p:nvSpPr>
        <p:spPr>
          <a:xfrm>
            <a:off x="6812280" y="5257800"/>
            <a:ext cx="2742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Faziyab Ahmad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9fd3cc"/>
                </a:solidFill>
                <a:effectLst/>
                <a:uFillTx/>
                <a:latin typeface="Calibri"/>
                <a:ea typeface="Calibri"/>
              </a:rPr>
              <a:t>L1F22BSCS1111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1"/>
          <p:cNvSpPr/>
          <p:nvPr/>
        </p:nvSpPr>
        <p:spPr>
          <a:xfrm>
            <a:off x="9738360" y="5239440"/>
            <a:ext cx="20113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r>
              <a:rPr lang="en-US" sz="1100" b="0" u="none" strike="noStrike">
                <a:solidFill>
                  <a:srgbClr val="9fd3cc"/>
                </a:solidFill>
                <a:effectLst/>
                <a:uFillTx/>
                <a:latin typeface="Calibri"/>
                <a:ea typeface="Calibri"/>
              </a:rPr>
              <a:t>Supervisor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Mam Misha Asif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0"/>
          <p:cNvSpPr/>
          <p:nvPr/>
        </p:nvSpPr>
        <p:spPr>
          <a:xfrm>
            <a:off x="640080" y="3841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pc="300" strike="noStrike">
                <a:solidFill>
                  <a:srgbClr val="0d9488"/>
                </a:solidFill>
                <a:effectLst/>
                <a:uFillTx/>
                <a:latin typeface="Calibri"/>
                <a:ea typeface="Calibri"/>
              </a:rPr>
              <a:t>INTRODUCTION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"/>
          <p:cNvSpPr/>
          <p:nvPr/>
        </p:nvSpPr>
        <p:spPr>
          <a:xfrm>
            <a:off x="640080" y="658440"/>
            <a:ext cx="96922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000" b="1" u="none" strike="noStrike">
                <a:solidFill>
                  <a:srgbClr val="0b3b38"/>
                </a:solidFill>
                <a:effectLst/>
                <a:uFillTx/>
                <a:latin typeface="Cambria"/>
                <a:ea typeface="Cambria"/>
              </a:rPr>
              <a:t>The Problem We Are Solving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" name="Image 0" descr="assets/benzi-logo.png"/>
          <p:cNvPicPr/>
          <p:nvPr/>
        </p:nvPicPr>
        <p:blipFill>
          <a:blip r:embed="rId1"/>
          <a:stretch/>
        </p:blipFill>
        <p:spPr>
          <a:xfrm>
            <a:off x="11018520" y="457200"/>
            <a:ext cx="868320" cy="293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" name="Image 1" descr="assets/problem.png"/>
          <p:cNvPicPr/>
          <p:nvPr/>
        </p:nvPicPr>
        <p:blipFill>
          <a:blip r:embed="rId2"/>
          <a:stretch/>
        </p:blipFill>
        <p:spPr>
          <a:xfrm>
            <a:off x="6903720" y="1783080"/>
            <a:ext cx="4663080" cy="2509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" name="Shape 2"/>
          <p:cNvSpPr/>
          <p:nvPr/>
        </p:nvSpPr>
        <p:spPr>
          <a:xfrm>
            <a:off x="6903720" y="1783080"/>
            <a:ext cx="4663080" cy="2509560"/>
          </a:xfrm>
          <a:prstGeom prst="roundRect">
            <a:avLst>
              <a:gd name="adj" fmla="val 2186"/>
            </a:avLst>
          </a:prstGeom>
          <a:noFill/>
          <a:ln w="12700">
            <a:solidFill>
              <a:srgbClr val="d4e9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3"/>
          <p:cNvSpPr/>
          <p:nvPr/>
        </p:nvSpPr>
        <p:spPr>
          <a:xfrm>
            <a:off x="640080" y="1783080"/>
            <a:ext cx="5988960" cy="329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r>
              <a:rPr lang="en-US" sz="1450" b="0" u="none" strike="noStrike">
                <a:solidFill>
                  <a:srgbClr val="13322f"/>
                </a:solidFill>
                <a:effectLst/>
                <a:uFillTx/>
                <a:latin typeface="Calibri"/>
                <a:ea typeface="Calibri"/>
              </a:rPr>
              <a:t>Mental health care is hard to access — and even harder to sustain between sessions.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algn="l" pos="0"/>
              </a:tabLst>
            </a:pP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b3b38"/>
                </a:solidFill>
                <a:effectLst/>
                <a:uFillTx/>
                <a:latin typeface="Calibri"/>
                <a:ea typeface="Calibri"/>
              </a:rPr>
              <a:t>Therapy is expensive and infrequent.  </a:t>
            </a:r>
            <a:r>
              <a:rPr lang="en-US" sz="1250" b="0" u="none" strike="noStrike">
                <a:solidFill>
                  <a:srgbClr val="5c7c78"/>
                </a:solidFill>
                <a:effectLst/>
                <a:uFillTx/>
                <a:latin typeface="Calibri"/>
                <a:ea typeface="Calibri"/>
              </a:rPr>
              <a:t>Patients are left without support during the days and weeks between appointments.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algn="l" pos="0"/>
              </a:tabLst>
            </a:pP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algn="l" pos="0"/>
              </a:tabLst>
            </a:pP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b3b38"/>
                </a:solidFill>
                <a:effectLst/>
                <a:uFillTx/>
                <a:latin typeface="Calibri"/>
                <a:ea typeface="Calibri"/>
              </a:rPr>
              <a:t>Early warning signs are missed.  </a:t>
            </a:r>
            <a:r>
              <a:rPr lang="en-US" sz="1250" b="0" u="none" strike="noStrike">
                <a:solidFill>
                  <a:srgbClr val="5c7c78"/>
                </a:solidFill>
                <a:effectLst/>
                <a:uFillTx/>
                <a:latin typeface="Calibri"/>
                <a:ea typeface="Calibri"/>
              </a:rPr>
              <a:t>Therapists lack visibility into a patient’s mood and crisis moments outside the clinic.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algn="l" pos="0"/>
              </a:tabLst>
            </a:pP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algn="l" pos="0"/>
              </a:tabLst>
            </a:pP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b3b38"/>
                </a:solidFill>
                <a:effectLst/>
                <a:uFillTx/>
                <a:latin typeface="Calibri"/>
                <a:ea typeface="Calibri"/>
              </a:rPr>
              <a:t>Self-help is fragmented.  </a:t>
            </a:r>
            <a:r>
              <a:rPr lang="en-US" sz="1250" b="0" u="none" strike="noStrike">
                <a:solidFill>
                  <a:srgbClr val="5c7c78"/>
                </a:solidFill>
                <a:effectLst/>
                <a:uFillTx/>
                <a:latin typeface="Calibri"/>
                <a:ea typeface="Calibri"/>
              </a:rPr>
              <a:t>Resources, mood logs, scheduling and records live in disconnected tools.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4"/>
          <p:cNvSpPr/>
          <p:nvPr/>
        </p:nvSpPr>
        <p:spPr>
          <a:xfrm>
            <a:off x="640080" y="5257800"/>
            <a:ext cx="3428640" cy="123408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4e9e5"/>
            </a:solidFill>
            <a:round/>
          </a:ln>
          <a:effectLst>
            <a:outerShdw algn="bl" blurRad="88920" dir="5400000" dist="25560" kx="0" ky="0" rotWithShape="0" sx="100000" sy="100000">
              <a:srgbClr val="0b3b38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5"/>
          <p:cNvSpPr/>
          <p:nvPr/>
        </p:nvSpPr>
        <p:spPr>
          <a:xfrm>
            <a:off x="868680" y="5394960"/>
            <a:ext cx="3017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000" b="1" u="none" strike="noStrike">
                <a:solidFill>
                  <a:srgbClr val="0f766e"/>
                </a:solidFill>
                <a:effectLst/>
                <a:uFillTx/>
                <a:latin typeface="Cambria"/>
                <a:ea typeface="Cambria"/>
              </a:rPr>
              <a:t>73%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6"/>
          <p:cNvSpPr/>
          <p:nvPr/>
        </p:nvSpPr>
        <p:spPr>
          <a:xfrm>
            <a:off x="868680" y="5943600"/>
            <a:ext cx="3017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5c7c78"/>
                </a:solidFill>
                <a:effectLst/>
                <a:uFillTx/>
                <a:latin typeface="Calibri"/>
                <a:ea typeface="Calibri"/>
              </a:rPr>
              <a:t>of people cite cost &amp; access as barriers to care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7"/>
          <p:cNvSpPr/>
          <p:nvPr/>
        </p:nvSpPr>
        <p:spPr>
          <a:xfrm>
            <a:off x="4343400" y="5257800"/>
            <a:ext cx="3428640" cy="123408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4e9e5"/>
            </a:solidFill>
            <a:round/>
          </a:ln>
          <a:effectLst>
            <a:outerShdw algn="bl" blurRad="88920" dir="5400000" dist="25560" kx="0" ky="0" rotWithShape="0" sx="100000" sy="100000">
              <a:srgbClr val="0b3b38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8"/>
          <p:cNvSpPr/>
          <p:nvPr/>
        </p:nvSpPr>
        <p:spPr>
          <a:xfrm>
            <a:off x="4572000" y="5394960"/>
            <a:ext cx="3017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000" b="1" u="none" strike="noStrike">
                <a:solidFill>
                  <a:srgbClr val="0f766e"/>
                </a:solidFill>
                <a:effectLst/>
                <a:uFillTx/>
                <a:latin typeface="Cambria"/>
                <a:ea typeface="Cambria"/>
              </a:rPr>
              <a:t>1 in 4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9"/>
          <p:cNvSpPr/>
          <p:nvPr/>
        </p:nvSpPr>
        <p:spPr>
          <a:xfrm>
            <a:off x="4572000" y="5943600"/>
            <a:ext cx="3017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5c7c78"/>
                </a:solidFill>
                <a:effectLst/>
                <a:uFillTx/>
                <a:latin typeface="Calibri"/>
                <a:ea typeface="Calibri"/>
              </a:rPr>
              <a:t>adults experience a mental-health condition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10"/>
          <p:cNvSpPr/>
          <p:nvPr/>
        </p:nvSpPr>
        <p:spPr>
          <a:xfrm>
            <a:off x="8046720" y="5257800"/>
            <a:ext cx="3428640" cy="123408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4e9e5"/>
            </a:solidFill>
            <a:round/>
          </a:ln>
          <a:effectLst>
            <a:outerShdw algn="bl" blurRad="88920" dir="5400000" dist="25560" kx="0" ky="0" rotWithShape="0" sx="100000" sy="100000">
              <a:srgbClr val="0b3b38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1"/>
          <p:cNvSpPr/>
          <p:nvPr/>
        </p:nvSpPr>
        <p:spPr>
          <a:xfrm>
            <a:off x="8275320" y="5394960"/>
            <a:ext cx="3017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000" b="1" u="none" strike="noStrike">
                <a:solidFill>
                  <a:srgbClr val="0f766e"/>
                </a:solidFill>
                <a:effectLst/>
                <a:uFillTx/>
                <a:latin typeface="Cambria"/>
                <a:ea typeface="Cambria"/>
              </a:rPr>
              <a:t>24/7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2"/>
          <p:cNvSpPr/>
          <p:nvPr/>
        </p:nvSpPr>
        <p:spPr>
          <a:xfrm>
            <a:off x="8275320" y="5943600"/>
            <a:ext cx="3017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5c7c78"/>
                </a:solidFill>
                <a:effectLst/>
                <a:uFillTx/>
                <a:latin typeface="Calibri"/>
                <a:ea typeface="Calibri"/>
              </a:rPr>
              <a:t>support gap between scheduled sessions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0"/>
          <p:cNvSpPr/>
          <p:nvPr/>
        </p:nvSpPr>
        <p:spPr>
          <a:xfrm>
            <a:off x="640080" y="3841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pc="300" strike="noStrike">
                <a:solidFill>
                  <a:srgbClr val="0d9488"/>
                </a:solidFill>
                <a:effectLst/>
                <a:uFillTx/>
                <a:latin typeface="Calibri"/>
                <a:ea typeface="Calibri"/>
              </a:rPr>
              <a:t>PROJECT SCOPE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"/>
          <p:cNvSpPr/>
          <p:nvPr/>
        </p:nvSpPr>
        <p:spPr>
          <a:xfrm>
            <a:off x="640080" y="658440"/>
            <a:ext cx="96922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000" b="1" u="none" strike="noStrike">
                <a:solidFill>
                  <a:srgbClr val="0b3b38"/>
                </a:solidFill>
                <a:effectLst/>
                <a:uFillTx/>
                <a:latin typeface="Cambria"/>
                <a:ea typeface="Cambria"/>
              </a:rPr>
              <a:t>Objectives &amp; Goals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" name="Image 0" descr="assets/benzi-logo.png"/>
          <p:cNvPicPr/>
          <p:nvPr/>
        </p:nvPicPr>
        <p:blipFill>
          <a:blip r:embed="rId1"/>
          <a:stretch/>
        </p:blipFill>
        <p:spPr>
          <a:xfrm>
            <a:off x="11018520" y="457200"/>
            <a:ext cx="868320" cy="293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" name="Shape 2"/>
          <p:cNvSpPr/>
          <p:nvPr/>
        </p:nvSpPr>
        <p:spPr>
          <a:xfrm>
            <a:off x="640080" y="1691640"/>
            <a:ext cx="10908360" cy="82260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d4e9e5"/>
            </a:solidFill>
            <a:round/>
          </a:ln>
          <a:effectLst>
            <a:outerShdw algn="bl" blurRad="76320" dir="5400000" dist="25560" kx="0" ky="0" rotWithShape="0" sx="100000" sy="100000">
              <a:srgbClr val="0b3b38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3"/>
          <p:cNvSpPr/>
          <p:nvPr/>
        </p:nvSpPr>
        <p:spPr>
          <a:xfrm>
            <a:off x="841320" y="1856160"/>
            <a:ext cx="493560" cy="493560"/>
          </a:xfrm>
          <a:prstGeom prst="ellipse">
            <a:avLst/>
          </a:prstGeom>
          <a:solidFill>
            <a:srgbClr val="0f766e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0b3b38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3" name="Image 1" descr="preencoded.png"/>
          <p:cNvPicPr/>
          <p:nvPr/>
        </p:nvPicPr>
        <p:blipFill>
          <a:blip r:embed="rId2"/>
          <a:stretch/>
        </p:blipFill>
        <p:spPr>
          <a:xfrm>
            <a:off x="974520" y="1989720"/>
            <a:ext cx="226800" cy="226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" name="Text 4"/>
          <p:cNvSpPr/>
          <p:nvPr/>
        </p:nvSpPr>
        <p:spPr>
          <a:xfrm>
            <a:off x="1554480" y="1828800"/>
            <a:ext cx="3200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0b3b38"/>
                </a:solidFill>
                <a:effectLst/>
                <a:uFillTx/>
                <a:latin typeface="Calibri"/>
                <a:ea typeface="Calibri"/>
              </a:rPr>
              <a:t>Always-on AI companion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5"/>
          <p:cNvSpPr/>
          <p:nvPr/>
        </p:nvSpPr>
        <p:spPr>
          <a:xfrm>
            <a:off x="4846320" y="1801440"/>
            <a:ext cx="64918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5c7c78"/>
                </a:solidFill>
                <a:effectLst/>
                <a:uFillTx/>
                <a:latin typeface="Calibri"/>
                <a:ea typeface="Calibri"/>
              </a:rPr>
              <a:t>Give patients an empathetic, private space to talk and reflect between therapy sessions.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6"/>
          <p:cNvSpPr/>
          <p:nvPr/>
        </p:nvSpPr>
        <p:spPr>
          <a:xfrm>
            <a:off x="640080" y="2642760"/>
            <a:ext cx="10908360" cy="82260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d4e9e5"/>
            </a:solidFill>
            <a:round/>
          </a:ln>
          <a:effectLst>
            <a:outerShdw algn="bl" blurRad="76320" dir="5400000" dist="25560" kx="0" ky="0" rotWithShape="0" sx="100000" sy="100000">
              <a:srgbClr val="0b3b38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7"/>
          <p:cNvSpPr/>
          <p:nvPr/>
        </p:nvSpPr>
        <p:spPr>
          <a:xfrm>
            <a:off x="841320" y="2807280"/>
            <a:ext cx="493560" cy="493560"/>
          </a:xfrm>
          <a:prstGeom prst="ellipse">
            <a:avLst/>
          </a:prstGeom>
          <a:solidFill>
            <a:srgbClr val="0f766e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0b3b38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8" name="Image 2" descr="preencoded.png"/>
          <p:cNvPicPr/>
          <p:nvPr/>
        </p:nvPicPr>
        <p:blipFill>
          <a:blip r:embed="rId3"/>
          <a:stretch/>
        </p:blipFill>
        <p:spPr>
          <a:xfrm>
            <a:off x="974520" y="2940480"/>
            <a:ext cx="226800" cy="226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" name="Text 8"/>
          <p:cNvSpPr/>
          <p:nvPr/>
        </p:nvSpPr>
        <p:spPr>
          <a:xfrm>
            <a:off x="1554480" y="2779920"/>
            <a:ext cx="3200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0b3b38"/>
                </a:solidFill>
                <a:effectLst/>
                <a:uFillTx/>
                <a:latin typeface="Calibri"/>
                <a:ea typeface="Calibri"/>
              </a:rPr>
              <a:t>Safety first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9"/>
          <p:cNvSpPr/>
          <p:nvPr/>
        </p:nvSpPr>
        <p:spPr>
          <a:xfrm>
            <a:off x="4846320" y="2752200"/>
            <a:ext cx="64918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5c7c78"/>
                </a:solidFill>
                <a:effectLst/>
                <a:uFillTx/>
                <a:latin typeface="Calibri"/>
                <a:ea typeface="Calibri"/>
              </a:rPr>
              <a:t>Detect crisis and self-harm language and guide users toward professional help immediately.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10"/>
          <p:cNvSpPr/>
          <p:nvPr/>
        </p:nvSpPr>
        <p:spPr>
          <a:xfrm>
            <a:off x="640080" y="3593520"/>
            <a:ext cx="10908360" cy="82260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d4e9e5"/>
            </a:solidFill>
            <a:round/>
          </a:ln>
          <a:effectLst>
            <a:outerShdw algn="bl" blurRad="76320" dir="5400000" dist="25560" kx="0" ky="0" rotWithShape="0" sx="100000" sy="100000">
              <a:srgbClr val="0b3b38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11"/>
          <p:cNvSpPr/>
          <p:nvPr/>
        </p:nvSpPr>
        <p:spPr>
          <a:xfrm>
            <a:off x="841320" y="3758040"/>
            <a:ext cx="493560" cy="493560"/>
          </a:xfrm>
          <a:prstGeom prst="ellipse">
            <a:avLst/>
          </a:prstGeom>
          <a:solidFill>
            <a:srgbClr val="0f766e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0b3b38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3" name="Image 3" descr="preencoded.png"/>
          <p:cNvPicPr/>
          <p:nvPr/>
        </p:nvPicPr>
        <p:blipFill>
          <a:blip r:embed="rId4"/>
          <a:stretch/>
        </p:blipFill>
        <p:spPr>
          <a:xfrm>
            <a:off x="974520" y="3891600"/>
            <a:ext cx="226800" cy="226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" name="Text 12"/>
          <p:cNvSpPr/>
          <p:nvPr/>
        </p:nvSpPr>
        <p:spPr>
          <a:xfrm>
            <a:off x="1554480" y="3730680"/>
            <a:ext cx="3200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0b3b38"/>
                </a:solidFill>
                <a:effectLst/>
                <a:uFillTx/>
                <a:latin typeface="Calibri"/>
                <a:ea typeface="Calibri"/>
              </a:rPr>
              <a:t>Track mood &amp; progress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3"/>
          <p:cNvSpPr/>
          <p:nvPr/>
        </p:nvSpPr>
        <p:spPr>
          <a:xfrm>
            <a:off x="4846320" y="3703320"/>
            <a:ext cx="64918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5c7c78"/>
                </a:solidFill>
                <a:effectLst/>
                <a:uFillTx/>
                <a:latin typeface="Calibri"/>
                <a:ea typeface="Calibri"/>
              </a:rPr>
              <a:t>Let patients log moods and goals, and give therapists clear insight into their journey.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14"/>
          <p:cNvSpPr/>
          <p:nvPr/>
        </p:nvSpPr>
        <p:spPr>
          <a:xfrm>
            <a:off x="640080" y="4544640"/>
            <a:ext cx="10908360" cy="82260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d4e9e5"/>
            </a:solidFill>
            <a:round/>
          </a:ln>
          <a:effectLst>
            <a:outerShdw algn="bl" blurRad="76320" dir="5400000" dist="25560" kx="0" ky="0" rotWithShape="0" sx="100000" sy="100000">
              <a:srgbClr val="0b3b38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15"/>
          <p:cNvSpPr/>
          <p:nvPr/>
        </p:nvSpPr>
        <p:spPr>
          <a:xfrm>
            <a:off x="841320" y="4709160"/>
            <a:ext cx="493560" cy="493560"/>
          </a:xfrm>
          <a:prstGeom prst="ellipse">
            <a:avLst/>
          </a:prstGeom>
          <a:solidFill>
            <a:srgbClr val="0f766e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0b3b38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8" name="Image 4" descr="preencoded.png"/>
          <p:cNvPicPr/>
          <p:nvPr/>
        </p:nvPicPr>
        <p:blipFill>
          <a:blip r:embed="rId5"/>
          <a:stretch/>
        </p:blipFill>
        <p:spPr>
          <a:xfrm>
            <a:off x="974520" y="4842360"/>
            <a:ext cx="226800" cy="226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" name="Text 16"/>
          <p:cNvSpPr/>
          <p:nvPr/>
        </p:nvSpPr>
        <p:spPr>
          <a:xfrm>
            <a:off x="1554480" y="4681800"/>
            <a:ext cx="3200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0b3b38"/>
                </a:solidFill>
                <a:effectLst/>
                <a:uFillTx/>
                <a:latin typeface="Calibri"/>
                <a:ea typeface="Calibri"/>
              </a:rPr>
              <a:t>Connect to real care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7"/>
          <p:cNvSpPr/>
          <p:nvPr/>
        </p:nvSpPr>
        <p:spPr>
          <a:xfrm>
            <a:off x="4846320" y="4654440"/>
            <a:ext cx="64918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5c7c78"/>
                </a:solidFill>
                <a:effectLst/>
                <a:uFillTx/>
                <a:latin typeface="Calibri"/>
                <a:ea typeface="Calibri"/>
              </a:rPr>
              <a:t>Verified therapists, appointment booking, secure chat and video — all in one platform.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18"/>
          <p:cNvSpPr/>
          <p:nvPr/>
        </p:nvSpPr>
        <p:spPr>
          <a:xfrm>
            <a:off x="640080" y="5495400"/>
            <a:ext cx="10908360" cy="82260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d4e9e5"/>
            </a:solidFill>
            <a:round/>
          </a:ln>
          <a:effectLst>
            <a:outerShdw algn="bl" blurRad="76320" dir="5400000" dist="25560" kx="0" ky="0" rotWithShape="0" sx="100000" sy="100000">
              <a:srgbClr val="0b3b38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19"/>
          <p:cNvSpPr/>
          <p:nvPr/>
        </p:nvSpPr>
        <p:spPr>
          <a:xfrm>
            <a:off x="841320" y="5660280"/>
            <a:ext cx="493560" cy="493560"/>
          </a:xfrm>
          <a:prstGeom prst="ellipse">
            <a:avLst/>
          </a:prstGeom>
          <a:solidFill>
            <a:srgbClr val="0f766e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0b3b38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3" name="Image 5" descr="preencoded.png"/>
          <p:cNvPicPr/>
          <p:nvPr/>
        </p:nvPicPr>
        <p:blipFill>
          <a:blip r:embed="rId6"/>
          <a:stretch/>
        </p:blipFill>
        <p:spPr>
          <a:xfrm>
            <a:off x="974520" y="5793480"/>
            <a:ext cx="226800" cy="226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" name="Text 20"/>
          <p:cNvSpPr/>
          <p:nvPr/>
        </p:nvSpPr>
        <p:spPr>
          <a:xfrm>
            <a:off x="1554480" y="5632560"/>
            <a:ext cx="3200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0b3b38"/>
                </a:solidFill>
                <a:effectLst/>
                <a:uFillTx/>
                <a:latin typeface="Calibri"/>
                <a:ea typeface="Calibri"/>
              </a:rPr>
              <a:t>Private &amp; secure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21"/>
          <p:cNvSpPr/>
          <p:nvPr/>
        </p:nvSpPr>
        <p:spPr>
          <a:xfrm>
            <a:off x="4846320" y="5605200"/>
            <a:ext cx="64918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5c7c78"/>
                </a:solidFill>
                <a:effectLst/>
                <a:uFillTx/>
                <a:latin typeface="Calibri"/>
                <a:ea typeface="Calibri"/>
              </a:rPr>
              <a:t>Protect sensitive records with JWT auth, two-factor login and access-controlled data.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 0"/>
          <p:cNvSpPr/>
          <p:nvPr/>
        </p:nvSpPr>
        <p:spPr>
          <a:xfrm>
            <a:off x="640080" y="3841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pc="300" strike="noStrike">
                <a:solidFill>
                  <a:srgbClr val="0d9488"/>
                </a:solidFill>
                <a:effectLst/>
                <a:uFillTx/>
                <a:latin typeface="Calibri"/>
                <a:ea typeface="Calibri"/>
              </a:rPr>
              <a:t>PROPOSED SOLUTION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"/>
          <p:cNvSpPr/>
          <p:nvPr/>
        </p:nvSpPr>
        <p:spPr>
          <a:xfrm>
            <a:off x="640080" y="658440"/>
            <a:ext cx="96922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000" b="1" u="none" strike="noStrike">
                <a:solidFill>
                  <a:srgbClr val="0b3b38"/>
                </a:solidFill>
                <a:effectLst/>
                <a:uFillTx/>
                <a:latin typeface="Cambria"/>
                <a:ea typeface="Cambria"/>
              </a:rPr>
              <a:t>Meet Benzi — One Connected Platform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8" name="Image 0" descr="assets/benzi-logo.png"/>
          <p:cNvPicPr/>
          <p:nvPr/>
        </p:nvPicPr>
        <p:blipFill>
          <a:blip r:embed="rId1"/>
          <a:stretch/>
        </p:blipFill>
        <p:spPr>
          <a:xfrm>
            <a:off x="11018520" y="457200"/>
            <a:ext cx="868320" cy="293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Shape 2"/>
          <p:cNvSpPr/>
          <p:nvPr/>
        </p:nvSpPr>
        <p:spPr>
          <a:xfrm>
            <a:off x="640080" y="1691640"/>
            <a:ext cx="3428640" cy="23313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4e9e5"/>
            </a:solidFill>
            <a:round/>
          </a:ln>
          <a:effectLst>
            <a:outerShdw algn="bl" blurRad="101520" dir="5400000" dist="38160" kx="0" ky="0" rotWithShape="0" sx="100000" sy="100000">
              <a:srgbClr val="0b3b38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3"/>
          <p:cNvSpPr/>
          <p:nvPr/>
        </p:nvSpPr>
        <p:spPr>
          <a:xfrm>
            <a:off x="932760" y="1965960"/>
            <a:ext cx="639720" cy="639720"/>
          </a:xfrm>
          <a:prstGeom prst="ellipse">
            <a:avLst/>
          </a:prstGeom>
          <a:solidFill>
            <a:srgbClr val="0f766e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0b3b38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1" name="Image 1" descr="preencoded.png"/>
          <p:cNvPicPr/>
          <p:nvPr/>
        </p:nvPicPr>
        <p:blipFill>
          <a:blip r:embed="rId2"/>
          <a:stretch/>
        </p:blipFill>
        <p:spPr>
          <a:xfrm>
            <a:off x="1105560" y="2138760"/>
            <a:ext cx="294120" cy="294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" name="Text 4"/>
          <p:cNvSpPr/>
          <p:nvPr/>
        </p:nvSpPr>
        <p:spPr>
          <a:xfrm>
            <a:off x="932760" y="2743200"/>
            <a:ext cx="2834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700" b="1" u="none" strike="noStrike">
                <a:solidFill>
                  <a:srgbClr val="0b3b38"/>
                </a:solidFill>
                <a:effectLst/>
                <a:uFillTx/>
                <a:latin typeface="Calibri"/>
                <a:ea typeface="Calibri"/>
              </a:rPr>
              <a:t>Patient App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5"/>
          <p:cNvSpPr/>
          <p:nvPr/>
        </p:nvSpPr>
        <p:spPr>
          <a:xfrm>
            <a:off x="932760" y="3127320"/>
            <a:ext cx="28800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3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5c7c78"/>
                </a:solidFill>
                <a:effectLst/>
                <a:uFillTx/>
                <a:latin typeface="Calibri"/>
                <a:ea typeface="Calibri"/>
              </a:rPr>
              <a:t>AI companion, mood tracking, appointments, secure chat, self-help resources &amp; goals.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6"/>
          <p:cNvSpPr/>
          <p:nvPr/>
        </p:nvSpPr>
        <p:spPr>
          <a:xfrm>
            <a:off x="4343400" y="1691640"/>
            <a:ext cx="3428640" cy="23313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4e9e5"/>
            </a:solidFill>
            <a:round/>
          </a:ln>
          <a:effectLst>
            <a:outerShdw algn="bl" blurRad="101520" dir="5400000" dist="38160" kx="0" ky="0" rotWithShape="0" sx="100000" sy="100000">
              <a:srgbClr val="0b3b38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7"/>
          <p:cNvSpPr/>
          <p:nvPr/>
        </p:nvSpPr>
        <p:spPr>
          <a:xfrm>
            <a:off x="4636080" y="1965960"/>
            <a:ext cx="639720" cy="639720"/>
          </a:xfrm>
          <a:prstGeom prst="ellipse">
            <a:avLst/>
          </a:prstGeom>
          <a:solidFill>
            <a:srgbClr val="0f766e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0b3b38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6" name="Image 2" descr="preencoded.png"/>
          <p:cNvPicPr/>
          <p:nvPr/>
        </p:nvPicPr>
        <p:blipFill>
          <a:blip r:embed="rId3"/>
          <a:stretch/>
        </p:blipFill>
        <p:spPr>
          <a:xfrm>
            <a:off x="4808880" y="2138760"/>
            <a:ext cx="294120" cy="294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Text 8"/>
          <p:cNvSpPr/>
          <p:nvPr/>
        </p:nvSpPr>
        <p:spPr>
          <a:xfrm>
            <a:off x="4636080" y="2743200"/>
            <a:ext cx="2834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700" b="1" u="none" strike="noStrike">
                <a:solidFill>
                  <a:srgbClr val="0b3b38"/>
                </a:solidFill>
                <a:effectLst/>
                <a:uFillTx/>
                <a:latin typeface="Calibri"/>
                <a:ea typeface="Calibri"/>
              </a:rPr>
              <a:t>Therapist Portal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9"/>
          <p:cNvSpPr/>
          <p:nvPr/>
        </p:nvSpPr>
        <p:spPr>
          <a:xfrm>
            <a:off x="4636080" y="3127320"/>
            <a:ext cx="28800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3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5c7c78"/>
                </a:solidFill>
                <a:effectLst/>
                <a:uFillTx/>
                <a:latin typeface="Calibri"/>
                <a:ea typeface="Calibri"/>
              </a:rPr>
              <a:t>Verification, client management, availability, reports and crisis alerts.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10"/>
          <p:cNvSpPr/>
          <p:nvPr/>
        </p:nvSpPr>
        <p:spPr>
          <a:xfrm>
            <a:off x="8046720" y="1691640"/>
            <a:ext cx="3428640" cy="23313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4e9e5"/>
            </a:solidFill>
            <a:round/>
          </a:ln>
          <a:effectLst>
            <a:outerShdw algn="bl" blurRad="101520" dir="5400000" dist="38160" kx="0" ky="0" rotWithShape="0" sx="100000" sy="100000">
              <a:srgbClr val="0b3b38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11"/>
          <p:cNvSpPr/>
          <p:nvPr/>
        </p:nvSpPr>
        <p:spPr>
          <a:xfrm>
            <a:off x="8339400" y="1965960"/>
            <a:ext cx="639720" cy="639720"/>
          </a:xfrm>
          <a:prstGeom prst="ellipse">
            <a:avLst/>
          </a:prstGeom>
          <a:solidFill>
            <a:srgbClr val="0f766e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0b3b38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1" name="Image 3" descr="preencoded.png"/>
          <p:cNvPicPr/>
          <p:nvPr/>
        </p:nvPicPr>
        <p:blipFill>
          <a:blip r:embed="rId4"/>
          <a:stretch/>
        </p:blipFill>
        <p:spPr>
          <a:xfrm>
            <a:off x="8512200" y="2138760"/>
            <a:ext cx="294120" cy="294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" name="Text 12"/>
          <p:cNvSpPr/>
          <p:nvPr/>
        </p:nvSpPr>
        <p:spPr>
          <a:xfrm>
            <a:off x="8339400" y="2743200"/>
            <a:ext cx="2834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700" b="1" u="none" strike="noStrike">
                <a:solidFill>
                  <a:srgbClr val="0b3b38"/>
                </a:solidFill>
                <a:effectLst/>
                <a:uFillTx/>
                <a:latin typeface="Calibri"/>
                <a:ea typeface="Calibri"/>
              </a:rPr>
              <a:t>Admin Dashboard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13"/>
          <p:cNvSpPr/>
          <p:nvPr/>
        </p:nvSpPr>
        <p:spPr>
          <a:xfrm>
            <a:off x="8339400" y="3127320"/>
            <a:ext cx="28800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3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5c7c78"/>
                </a:solidFill>
                <a:effectLst/>
                <a:uFillTx/>
                <a:latin typeface="Calibri"/>
                <a:ea typeface="Calibri"/>
              </a:rPr>
              <a:t>Therapist approval, subscriptions, coupons, revenue and platform oversight.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14"/>
          <p:cNvSpPr/>
          <p:nvPr/>
        </p:nvSpPr>
        <p:spPr>
          <a:xfrm>
            <a:off x="640080" y="4251960"/>
            <a:ext cx="10908360" cy="2057040"/>
          </a:xfrm>
          <a:prstGeom prst="roundRect">
            <a:avLst>
              <a:gd name="adj" fmla="val 4444"/>
            </a:avLst>
          </a:prstGeom>
          <a:solidFill>
            <a:srgbClr val="0b3b38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b3b38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15"/>
          <p:cNvSpPr/>
          <p:nvPr/>
        </p:nvSpPr>
        <p:spPr>
          <a:xfrm>
            <a:off x="1005840" y="4617720"/>
            <a:ext cx="914040" cy="914040"/>
          </a:xfrm>
          <a:prstGeom prst="ellipse">
            <a:avLst/>
          </a:prstGeom>
          <a:solidFill>
            <a:srgbClr val="0d9488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0b3b38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6" name="Image 4" descr="preencoded.png"/>
          <p:cNvPicPr/>
          <p:nvPr/>
        </p:nvPicPr>
        <p:blipFill>
          <a:blip r:embed="rId5"/>
          <a:stretch/>
        </p:blipFill>
        <p:spPr>
          <a:xfrm>
            <a:off x="1252800" y="4864680"/>
            <a:ext cx="420120" cy="42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7" name="Text 16"/>
          <p:cNvSpPr/>
          <p:nvPr/>
        </p:nvSpPr>
        <p:spPr>
          <a:xfrm>
            <a:off x="2148840" y="4553640"/>
            <a:ext cx="8960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9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Powered by the Benzi AI Engine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7"/>
          <p:cNvSpPr/>
          <p:nvPr/>
        </p:nvSpPr>
        <p:spPr>
          <a:xfrm>
            <a:off x="2148840" y="5029200"/>
            <a:ext cx="90522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c7e6e1"/>
                </a:solidFill>
                <a:effectLst/>
                <a:uFillTx/>
                <a:latin typeface="Calibri"/>
                <a:ea typeface="Calibri"/>
              </a:rPr>
              <a:t>A locally-hosted, fine-tuned empathetic language model running on Ollama — paired with a crisis-detection safety layer and retrieval over the patient’s own records. Private by design: the model runs on our own infrastructure.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 0"/>
          <p:cNvSpPr/>
          <p:nvPr/>
        </p:nvSpPr>
        <p:spPr>
          <a:xfrm>
            <a:off x="640080" y="3841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pc="300" strike="noStrike">
                <a:solidFill>
                  <a:srgbClr val="0d9488"/>
                </a:solidFill>
                <a:effectLst/>
                <a:uFillTx/>
                <a:latin typeface="Calibri"/>
                <a:ea typeface="Calibri"/>
              </a:rPr>
              <a:t>SYSTEM DESIGN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"/>
          <p:cNvSpPr/>
          <p:nvPr/>
        </p:nvSpPr>
        <p:spPr>
          <a:xfrm>
            <a:off x="640080" y="658440"/>
            <a:ext cx="96922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000" b="1" u="none" strike="noStrike">
                <a:solidFill>
                  <a:srgbClr val="0b3b38"/>
                </a:solidFill>
                <a:effectLst/>
                <a:uFillTx/>
                <a:latin typeface="Cambria"/>
                <a:ea typeface="Cambria"/>
              </a:rPr>
              <a:t>System Architecture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1" name="Image 0" descr="assets/benzi-logo.png"/>
          <p:cNvPicPr/>
          <p:nvPr/>
        </p:nvPicPr>
        <p:blipFill>
          <a:blip r:embed="rId1"/>
          <a:stretch/>
        </p:blipFill>
        <p:spPr>
          <a:xfrm>
            <a:off x="11018520" y="457200"/>
            <a:ext cx="868320" cy="293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" name="Text 2"/>
          <p:cNvSpPr/>
          <p:nvPr/>
        </p:nvSpPr>
        <p:spPr>
          <a:xfrm>
            <a:off x="640080" y="1591200"/>
            <a:ext cx="108810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13322f"/>
                </a:solidFill>
                <a:effectLst/>
                <a:uFillTx/>
                <a:latin typeface="Calibri"/>
                <a:ea typeface="Calibri"/>
              </a:rPr>
              <a:t>A modular client–server architecture: React web apps talk to a Node.js / Express REST API and a Socket.IO real-time layer, backed by MongoDB and a Redis-powered job queue, with the Benzi AI engine served locally via Ollama.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3"/>
          <p:cNvSpPr/>
          <p:nvPr/>
        </p:nvSpPr>
        <p:spPr>
          <a:xfrm>
            <a:off x="640080" y="2286000"/>
            <a:ext cx="10908360" cy="416016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4e9e5"/>
            </a:solidFill>
            <a:round/>
          </a:ln>
          <a:effectLst>
            <a:outerShdw algn="bl" blurRad="101520" dir="5400000" dist="38160" kx="0" ky="0" rotWithShape="0" sx="100000" sy="100000">
              <a:srgbClr val="0b3b38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4" name="Image 1" descr="assets/architecture.png"/>
          <p:cNvPicPr/>
          <p:nvPr/>
        </p:nvPicPr>
        <p:blipFill>
          <a:blip r:embed="rId2"/>
          <a:stretch/>
        </p:blipFill>
        <p:spPr>
          <a:xfrm>
            <a:off x="3332520" y="2432160"/>
            <a:ext cx="5523120" cy="3867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3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 0"/>
          <p:cNvSpPr/>
          <p:nvPr/>
        </p:nvSpPr>
        <p:spPr>
          <a:xfrm>
            <a:off x="640080" y="4114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pc="300" strike="noStrike">
                <a:solidFill>
                  <a:srgbClr val="5eead4"/>
                </a:solidFill>
                <a:effectLst/>
                <a:uFillTx/>
                <a:latin typeface="Calibri"/>
                <a:ea typeface="Calibri"/>
              </a:rPr>
              <a:t>THE DIFFERENTIATOR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"/>
          <p:cNvSpPr/>
          <p:nvPr/>
        </p:nvSpPr>
        <p:spPr>
          <a:xfrm>
            <a:off x="640080" y="676800"/>
            <a:ext cx="9143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The Benzi AI Engine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2"/>
          <p:cNvSpPr/>
          <p:nvPr/>
        </p:nvSpPr>
        <p:spPr>
          <a:xfrm>
            <a:off x="9601200" y="457200"/>
            <a:ext cx="2285640" cy="84096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0">
            <a:noFill/>
          </a:ln>
          <a:effectLst>
            <a:outerShdw algn="bl" blurRad="127080" dir="5400000" dist="38160" kx="0" ky="0" rotWithShape="0" sx="100000" sy="100000">
              <a:srgbClr val="0b3b3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8" name="Image 0" descr="assets/benzi-logo.png"/>
          <p:cNvPicPr/>
          <p:nvPr/>
        </p:nvPicPr>
        <p:blipFill>
          <a:blip r:embed="rId1"/>
          <a:stretch/>
        </p:blipFill>
        <p:spPr>
          <a:xfrm>
            <a:off x="9985320" y="676800"/>
            <a:ext cx="1517400" cy="512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" name="Shape 3"/>
          <p:cNvSpPr/>
          <p:nvPr/>
        </p:nvSpPr>
        <p:spPr>
          <a:xfrm>
            <a:off x="640080" y="1691640"/>
            <a:ext cx="4114440" cy="4617360"/>
          </a:xfrm>
          <a:prstGeom prst="roundRect">
            <a:avLst>
              <a:gd name="adj" fmla="val 2222"/>
            </a:avLst>
          </a:prstGeom>
          <a:solidFill>
            <a:srgbClr val="072b29"/>
          </a:solidFill>
          <a:ln w="127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4"/>
          <p:cNvSpPr/>
          <p:nvPr/>
        </p:nvSpPr>
        <p:spPr>
          <a:xfrm>
            <a:off x="960120" y="2011680"/>
            <a:ext cx="731160" cy="731160"/>
          </a:xfrm>
          <a:prstGeom prst="ellipse">
            <a:avLst/>
          </a:prstGeom>
          <a:solidFill>
            <a:srgbClr val="0d9488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0b3b38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1" name="Image 1" descr="preencoded.png"/>
          <p:cNvPicPr/>
          <p:nvPr/>
        </p:nvPicPr>
        <p:blipFill>
          <a:blip r:embed="rId2"/>
          <a:stretch/>
        </p:blipFill>
        <p:spPr>
          <a:xfrm>
            <a:off x="1157760" y="2209320"/>
            <a:ext cx="336240" cy="336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" name="Text 5"/>
          <p:cNvSpPr/>
          <p:nvPr/>
        </p:nvSpPr>
        <p:spPr>
          <a:xfrm>
            <a:off x="1874520" y="2030040"/>
            <a:ext cx="26971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98000"/>
              </a:lnSpc>
              <a:tabLst>
                <a:tab algn="l" pos="0"/>
              </a:tabLs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Fine-tuned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8000"/>
              </a:lnSpc>
              <a:tabLst>
                <a:tab algn="l" pos="0"/>
              </a:tabLs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Empathetic Model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6"/>
          <p:cNvSpPr/>
          <p:nvPr/>
        </p:nvSpPr>
        <p:spPr>
          <a:xfrm>
            <a:off x="960120" y="2907720"/>
            <a:ext cx="356580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9fd3cc"/>
                </a:solidFill>
                <a:effectLst/>
                <a:uFillTx/>
                <a:latin typeface="Calibri"/>
                <a:ea typeface="Calibri"/>
              </a:rPr>
              <a:t>Base model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901"/>
              </a:spcAft>
              <a:tabLst>
                <a:tab algn="l" pos="0"/>
              </a:tabLst>
            </a:pPr>
            <a:r>
              <a:rPr lang="en-US" sz="1450" b="1" u="none" strike="noStrike">
                <a:solidFill>
                  <a:srgbClr val="5eead4"/>
                </a:solidFill>
                <a:effectLst/>
                <a:uFillTx/>
                <a:latin typeface="Calibri"/>
                <a:ea typeface="Calibri"/>
              </a:rPr>
              <a:t>Llama 3.2 :3B</a:t>
            </a:r>
            <a:endParaRPr lang="en-US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9fd3cc"/>
                </a:solidFill>
                <a:effectLst/>
                <a:uFillTx/>
                <a:latin typeface="Calibri"/>
                <a:ea typeface="Calibri"/>
              </a:rPr>
              <a:t>Method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901"/>
              </a:spcAft>
              <a:tabLst>
                <a:tab algn="l" pos="0"/>
              </a:tabLst>
            </a:pPr>
            <a:r>
              <a:rPr lang="en-US" sz="14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QLoRA fine-tuning (PEFT)</a:t>
            </a:r>
            <a:endParaRPr lang="en-US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9fd3cc"/>
                </a:solidFill>
                <a:effectLst/>
                <a:uFillTx/>
                <a:latin typeface="Calibri"/>
                <a:ea typeface="Calibri"/>
              </a:rPr>
              <a:t>Served with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901"/>
              </a:spcAft>
              <a:tabLst>
                <a:tab algn="l" pos="0"/>
              </a:tabLst>
            </a:pPr>
            <a:r>
              <a:rPr lang="en-US" sz="14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Ollama — runs locally</a:t>
            </a:r>
            <a:endParaRPr lang="en-US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9fd3cc"/>
                </a:solidFill>
                <a:effectLst/>
                <a:uFillTx/>
                <a:latin typeface="Calibri"/>
                <a:ea typeface="Calibri"/>
              </a:rPr>
              <a:t>Training data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1,000 curated examples</a:t>
            </a:r>
            <a:endParaRPr lang="en-US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7"/>
          <p:cNvSpPr/>
          <p:nvPr/>
        </p:nvSpPr>
        <p:spPr>
          <a:xfrm>
            <a:off x="4983480" y="1691640"/>
            <a:ext cx="6564960" cy="1023840"/>
          </a:xfrm>
          <a:prstGeom prst="roundRect">
            <a:avLst>
              <a:gd name="adj" fmla="val 7143"/>
            </a:avLst>
          </a:prstGeom>
          <a:solidFill>
            <a:srgbClr val="072b29"/>
          </a:solidFill>
          <a:ln w="127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8"/>
          <p:cNvSpPr/>
          <p:nvPr/>
        </p:nvSpPr>
        <p:spPr>
          <a:xfrm>
            <a:off x="5212080" y="1938600"/>
            <a:ext cx="529920" cy="529920"/>
          </a:xfrm>
          <a:prstGeom prst="ellipse">
            <a:avLst/>
          </a:prstGeom>
          <a:solidFill>
            <a:srgbClr val="0d9488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0b3b38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6" name="Image 2" descr="preencoded.png"/>
          <p:cNvPicPr/>
          <p:nvPr/>
        </p:nvPicPr>
        <p:blipFill>
          <a:blip r:embed="rId3"/>
          <a:stretch/>
        </p:blipFill>
        <p:spPr>
          <a:xfrm>
            <a:off x="5355360" y="2081880"/>
            <a:ext cx="243720" cy="243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7" name="Text 9"/>
          <p:cNvSpPr/>
          <p:nvPr/>
        </p:nvSpPr>
        <p:spPr>
          <a:xfrm>
            <a:off x="5943600" y="1837800"/>
            <a:ext cx="54860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Empathetic companion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10"/>
          <p:cNvSpPr/>
          <p:nvPr/>
        </p:nvSpPr>
        <p:spPr>
          <a:xfrm>
            <a:off x="5943600" y="2148840"/>
            <a:ext cx="5486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bfe0db"/>
                </a:solidFill>
                <a:effectLst/>
                <a:uFillTx/>
                <a:latin typeface="Calibri"/>
                <a:ea typeface="Calibri"/>
              </a:rPr>
              <a:t>Acknowledges feelings, reflects, and asks one gentle question — concise and supportive, never a diagnosis.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11"/>
          <p:cNvSpPr/>
          <p:nvPr/>
        </p:nvSpPr>
        <p:spPr>
          <a:xfrm>
            <a:off x="4983480" y="2862000"/>
            <a:ext cx="6564960" cy="1023840"/>
          </a:xfrm>
          <a:prstGeom prst="roundRect">
            <a:avLst>
              <a:gd name="adj" fmla="val 7143"/>
            </a:avLst>
          </a:prstGeom>
          <a:solidFill>
            <a:srgbClr val="072b29"/>
          </a:solidFill>
          <a:ln w="127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12"/>
          <p:cNvSpPr/>
          <p:nvPr/>
        </p:nvSpPr>
        <p:spPr>
          <a:xfrm>
            <a:off x="5212080" y="3108960"/>
            <a:ext cx="529920" cy="529920"/>
          </a:xfrm>
          <a:prstGeom prst="ellipse">
            <a:avLst/>
          </a:prstGeom>
          <a:solidFill>
            <a:srgbClr val="0d9488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0b3b38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1" name="Image 3" descr="preencoded.png"/>
          <p:cNvPicPr/>
          <p:nvPr/>
        </p:nvPicPr>
        <p:blipFill>
          <a:blip r:embed="rId4"/>
          <a:stretch/>
        </p:blipFill>
        <p:spPr>
          <a:xfrm>
            <a:off x="5355360" y="3252240"/>
            <a:ext cx="243720" cy="243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2" name="Text 13"/>
          <p:cNvSpPr/>
          <p:nvPr/>
        </p:nvSpPr>
        <p:spPr>
          <a:xfrm>
            <a:off x="5943600" y="3008520"/>
            <a:ext cx="54860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Crisis-detection safety layer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4"/>
          <p:cNvSpPr/>
          <p:nvPr/>
        </p:nvSpPr>
        <p:spPr>
          <a:xfrm>
            <a:off x="5943600" y="3319200"/>
            <a:ext cx="5486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bfe0db"/>
                </a:solidFill>
                <a:effectLst/>
                <a:uFillTx/>
                <a:latin typeface="Calibri"/>
                <a:ea typeface="Calibri"/>
              </a:rPr>
              <a:t>Flags self-harm and crisis language and steers users to their therapist or emergency help.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15"/>
          <p:cNvSpPr/>
          <p:nvPr/>
        </p:nvSpPr>
        <p:spPr>
          <a:xfrm>
            <a:off x="4983480" y="4032360"/>
            <a:ext cx="6564960" cy="1023840"/>
          </a:xfrm>
          <a:prstGeom prst="roundRect">
            <a:avLst>
              <a:gd name="adj" fmla="val 7143"/>
            </a:avLst>
          </a:prstGeom>
          <a:solidFill>
            <a:srgbClr val="072b29"/>
          </a:solidFill>
          <a:ln w="127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16"/>
          <p:cNvSpPr/>
          <p:nvPr/>
        </p:nvSpPr>
        <p:spPr>
          <a:xfrm>
            <a:off x="5212080" y="4279320"/>
            <a:ext cx="529920" cy="529920"/>
          </a:xfrm>
          <a:prstGeom prst="ellipse">
            <a:avLst/>
          </a:prstGeom>
          <a:solidFill>
            <a:srgbClr val="0d9488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0b3b38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6" name="Image 4" descr="preencoded.png"/>
          <p:cNvPicPr/>
          <p:nvPr/>
        </p:nvPicPr>
        <p:blipFill>
          <a:blip r:embed="rId5"/>
          <a:stretch/>
        </p:blipFill>
        <p:spPr>
          <a:xfrm>
            <a:off x="5355360" y="4422600"/>
            <a:ext cx="243720" cy="243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" name="Text 17"/>
          <p:cNvSpPr/>
          <p:nvPr/>
        </p:nvSpPr>
        <p:spPr>
          <a:xfrm>
            <a:off x="5943600" y="4178880"/>
            <a:ext cx="54860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Retrieval (RAG) over records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18"/>
          <p:cNvSpPr/>
          <p:nvPr/>
        </p:nvSpPr>
        <p:spPr>
          <a:xfrm>
            <a:off x="5943600" y="4489560"/>
            <a:ext cx="5486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bfe0db"/>
                </a:solidFill>
                <a:effectLst/>
                <a:uFillTx/>
                <a:latin typeface="Calibri"/>
                <a:ea typeface="Calibri"/>
              </a:rPr>
              <a:t>Grounds replies in the patient’s own notes and documents using vector embeddings.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19"/>
          <p:cNvSpPr/>
          <p:nvPr/>
        </p:nvSpPr>
        <p:spPr>
          <a:xfrm>
            <a:off x="4983480" y="5203080"/>
            <a:ext cx="6564960" cy="1023840"/>
          </a:xfrm>
          <a:prstGeom prst="roundRect">
            <a:avLst>
              <a:gd name="adj" fmla="val 7143"/>
            </a:avLst>
          </a:prstGeom>
          <a:solidFill>
            <a:srgbClr val="072b29"/>
          </a:solidFill>
          <a:ln w="127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20"/>
          <p:cNvSpPr/>
          <p:nvPr/>
        </p:nvSpPr>
        <p:spPr>
          <a:xfrm>
            <a:off x="5212080" y="5449680"/>
            <a:ext cx="529920" cy="529920"/>
          </a:xfrm>
          <a:prstGeom prst="ellipse">
            <a:avLst/>
          </a:prstGeom>
          <a:solidFill>
            <a:srgbClr val="0d9488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0b3b38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1" name="Image 5" descr="preencoded.png"/>
          <p:cNvPicPr/>
          <p:nvPr/>
        </p:nvPicPr>
        <p:blipFill>
          <a:blip r:embed="rId6"/>
          <a:stretch/>
        </p:blipFill>
        <p:spPr>
          <a:xfrm>
            <a:off x="5355360" y="5592960"/>
            <a:ext cx="243720" cy="243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" name="Text 21"/>
          <p:cNvSpPr/>
          <p:nvPr/>
        </p:nvSpPr>
        <p:spPr>
          <a:xfrm>
            <a:off x="5943600" y="5349240"/>
            <a:ext cx="54860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Sentiment &amp; mood analysis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22"/>
          <p:cNvSpPr/>
          <p:nvPr/>
        </p:nvSpPr>
        <p:spPr>
          <a:xfrm>
            <a:off x="5943600" y="5660280"/>
            <a:ext cx="5486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bfe0db"/>
                </a:solidFill>
                <a:effectLst/>
                <a:uFillTx/>
                <a:latin typeface="Calibri"/>
                <a:ea typeface="Calibri"/>
              </a:rPr>
              <a:t>Reads emotional tone to log mood trends and surface insights for therapists.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 0"/>
          <p:cNvSpPr/>
          <p:nvPr/>
        </p:nvSpPr>
        <p:spPr>
          <a:xfrm>
            <a:off x="640080" y="3841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pc="300" strike="noStrike">
                <a:solidFill>
                  <a:srgbClr val="0d9488"/>
                </a:solidFill>
                <a:effectLst/>
                <a:uFillTx/>
                <a:latin typeface="Calibri"/>
                <a:ea typeface="Calibri"/>
              </a:rPr>
              <a:t>KEY FEATURES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"/>
          <p:cNvSpPr/>
          <p:nvPr/>
        </p:nvSpPr>
        <p:spPr>
          <a:xfrm>
            <a:off x="640080" y="658440"/>
            <a:ext cx="96922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000" b="1" u="none" strike="noStrike">
                <a:solidFill>
                  <a:srgbClr val="0b3b38"/>
                </a:solidFill>
                <a:effectLst/>
                <a:uFillTx/>
                <a:latin typeface="Cambria"/>
                <a:ea typeface="Cambria"/>
              </a:rPr>
              <a:t>For Patients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6" name="Image 0" descr="assets/benzi-logo.png"/>
          <p:cNvPicPr/>
          <p:nvPr/>
        </p:nvPicPr>
        <p:blipFill>
          <a:blip r:embed="rId1"/>
          <a:stretch/>
        </p:blipFill>
        <p:spPr>
          <a:xfrm>
            <a:off x="11018520" y="457200"/>
            <a:ext cx="868320" cy="293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7" name="Shape 2"/>
          <p:cNvSpPr/>
          <p:nvPr/>
        </p:nvSpPr>
        <p:spPr>
          <a:xfrm>
            <a:off x="640080" y="1737360"/>
            <a:ext cx="3428640" cy="16912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4e9e5"/>
            </a:solidFill>
            <a:round/>
          </a:ln>
          <a:effectLst>
            <a:outerShdw algn="bl" blurRad="101520" dir="5400000" dist="38160" kx="0" ky="0" rotWithShape="0" sx="100000" sy="100000">
              <a:srgbClr val="0b3b38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3"/>
          <p:cNvSpPr/>
          <p:nvPr/>
        </p:nvSpPr>
        <p:spPr>
          <a:xfrm>
            <a:off x="914400" y="2011680"/>
            <a:ext cx="566640" cy="566640"/>
          </a:xfrm>
          <a:prstGeom prst="ellipse">
            <a:avLst/>
          </a:prstGeom>
          <a:solidFill>
            <a:srgbClr val="0f766e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0b3b38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9" name="Image 1" descr="preencoded.png"/>
          <p:cNvPicPr/>
          <p:nvPr/>
        </p:nvPicPr>
        <p:blipFill>
          <a:blip r:embed="rId2"/>
          <a:stretch/>
        </p:blipFill>
        <p:spPr>
          <a:xfrm>
            <a:off x="1067400" y="2164680"/>
            <a:ext cx="260280" cy="26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0" name="Text 4"/>
          <p:cNvSpPr/>
          <p:nvPr/>
        </p:nvSpPr>
        <p:spPr>
          <a:xfrm>
            <a:off x="914400" y="2670120"/>
            <a:ext cx="2925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50" b="1" u="none" strike="noStrike">
                <a:solidFill>
                  <a:srgbClr val="0b3b38"/>
                </a:solidFill>
                <a:effectLst/>
                <a:uFillTx/>
                <a:latin typeface="Calibri"/>
                <a:ea typeface="Calibri"/>
              </a:rPr>
              <a:t>Benzi AI Companion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5"/>
          <p:cNvSpPr/>
          <p:nvPr/>
        </p:nvSpPr>
        <p:spPr>
          <a:xfrm>
            <a:off x="914400" y="296280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5c7c78"/>
                </a:solidFill>
                <a:effectLst/>
                <a:uFillTx/>
                <a:latin typeface="Calibri"/>
                <a:ea typeface="Calibri"/>
              </a:rPr>
              <a:t>Private, always-available empathetic chat with voice input support.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6"/>
          <p:cNvSpPr/>
          <p:nvPr/>
        </p:nvSpPr>
        <p:spPr>
          <a:xfrm>
            <a:off x="4338720" y="1737360"/>
            <a:ext cx="3428640" cy="16912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4e9e5"/>
            </a:solidFill>
            <a:round/>
          </a:ln>
          <a:effectLst>
            <a:outerShdw algn="bl" blurRad="101520" dir="5400000" dist="38160" kx="0" ky="0" rotWithShape="0" sx="100000" sy="100000">
              <a:srgbClr val="0b3b38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7"/>
          <p:cNvSpPr/>
          <p:nvPr/>
        </p:nvSpPr>
        <p:spPr>
          <a:xfrm>
            <a:off x="4613040" y="2011680"/>
            <a:ext cx="566640" cy="566640"/>
          </a:xfrm>
          <a:prstGeom prst="ellipse">
            <a:avLst/>
          </a:prstGeom>
          <a:solidFill>
            <a:srgbClr val="0f766e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0b3b38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4" name="Image 2" descr="preencoded.png"/>
          <p:cNvPicPr/>
          <p:nvPr/>
        </p:nvPicPr>
        <p:blipFill>
          <a:blip r:embed="rId3"/>
          <a:stretch/>
        </p:blipFill>
        <p:spPr>
          <a:xfrm>
            <a:off x="4766040" y="2164680"/>
            <a:ext cx="260280" cy="26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5" name="Text 8"/>
          <p:cNvSpPr/>
          <p:nvPr/>
        </p:nvSpPr>
        <p:spPr>
          <a:xfrm>
            <a:off x="4613040" y="2670120"/>
            <a:ext cx="2925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50" b="1" u="none" strike="noStrike">
                <a:solidFill>
                  <a:srgbClr val="0b3b38"/>
                </a:solidFill>
                <a:effectLst/>
                <a:uFillTx/>
                <a:latin typeface="Calibri"/>
                <a:ea typeface="Calibri"/>
              </a:rPr>
              <a:t>Mood Tracking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9"/>
          <p:cNvSpPr/>
          <p:nvPr/>
        </p:nvSpPr>
        <p:spPr>
          <a:xfrm>
            <a:off x="4613040" y="296280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5c7c78"/>
                </a:solidFill>
                <a:effectLst/>
                <a:uFillTx/>
                <a:latin typeface="Calibri"/>
                <a:ea typeface="Calibri"/>
              </a:rPr>
              <a:t>Daily mood logs that build a visual picture of emotional wellbeing.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10"/>
          <p:cNvSpPr/>
          <p:nvPr/>
        </p:nvSpPr>
        <p:spPr>
          <a:xfrm>
            <a:off x="8037720" y="1737360"/>
            <a:ext cx="3428640" cy="16912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4e9e5"/>
            </a:solidFill>
            <a:round/>
          </a:ln>
          <a:effectLst>
            <a:outerShdw algn="bl" blurRad="101520" dir="5400000" dist="38160" kx="0" ky="0" rotWithShape="0" sx="100000" sy="100000">
              <a:srgbClr val="0b3b38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11"/>
          <p:cNvSpPr/>
          <p:nvPr/>
        </p:nvSpPr>
        <p:spPr>
          <a:xfrm>
            <a:off x="8312040" y="2011680"/>
            <a:ext cx="566640" cy="566640"/>
          </a:xfrm>
          <a:prstGeom prst="ellipse">
            <a:avLst/>
          </a:prstGeom>
          <a:solidFill>
            <a:srgbClr val="0f766e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0b3b38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9" name="Image 3" descr="preencoded.png"/>
          <p:cNvPicPr/>
          <p:nvPr/>
        </p:nvPicPr>
        <p:blipFill>
          <a:blip r:embed="rId4"/>
          <a:stretch/>
        </p:blipFill>
        <p:spPr>
          <a:xfrm>
            <a:off x="8465040" y="2164680"/>
            <a:ext cx="260280" cy="26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0" name="Text 12"/>
          <p:cNvSpPr/>
          <p:nvPr/>
        </p:nvSpPr>
        <p:spPr>
          <a:xfrm>
            <a:off x="8312040" y="2670120"/>
            <a:ext cx="2925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50" b="1" u="none" strike="noStrike">
                <a:solidFill>
                  <a:srgbClr val="0b3b38"/>
                </a:solidFill>
                <a:effectLst/>
                <a:uFillTx/>
                <a:latin typeface="Calibri"/>
                <a:ea typeface="Calibri"/>
              </a:rPr>
              <a:t>Appointments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3"/>
          <p:cNvSpPr/>
          <p:nvPr/>
        </p:nvSpPr>
        <p:spPr>
          <a:xfrm>
            <a:off x="8312040" y="296280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5c7c78"/>
                </a:solidFill>
                <a:effectLst/>
                <a:uFillTx/>
                <a:latin typeface="Calibri"/>
                <a:ea typeface="Calibri"/>
              </a:rPr>
              <a:t>Browse verified therapists and book, reschedule or cancel sessions.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14"/>
          <p:cNvSpPr/>
          <p:nvPr/>
        </p:nvSpPr>
        <p:spPr>
          <a:xfrm>
            <a:off x="640080" y="3611880"/>
            <a:ext cx="3428640" cy="16912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4e9e5"/>
            </a:solidFill>
            <a:round/>
          </a:ln>
          <a:effectLst>
            <a:outerShdw algn="bl" blurRad="101520" dir="5400000" dist="38160" kx="0" ky="0" rotWithShape="0" sx="100000" sy="100000">
              <a:srgbClr val="0b3b38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15"/>
          <p:cNvSpPr/>
          <p:nvPr/>
        </p:nvSpPr>
        <p:spPr>
          <a:xfrm>
            <a:off x="914400" y="3886200"/>
            <a:ext cx="566640" cy="566640"/>
          </a:xfrm>
          <a:prstGeom prst="ellipse">
            <a:avLst/>
          </a:prstGeom>
          <a:solidFill>
            <a:srgbClr val="0f766e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0b3b38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4" name="Image 4" descr="preencoded.png"/>
          <p:cNvPicPr/>
          <p:nvPr/>
        </p:nvPicPr>
        <p:blipFill>
          <a:blip r:embed="rId5"/>
          <a:stretch/>
        </p:blipFill>
        <p:spPr>
          <a:xfrm>
            <a:off x="1067400" y="4039200"/>
            <a:ext cx="260280" cy="26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5" name="Text 16"/>
          <p:cNvSpPr/>
          <p:nvPr/>
        </p:nvSpPr>
        <p:spPr>
          <a:xfrm>
            <a:off x="914400" y="4544640"/>
            <a:ext cx="2925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50" b="1" u="none" strike="noStrike">
                <a:solidFill>
                  <a:srgbClr val="0b3b38"/>
                </a:solidFill>
                <a:effectLst/>
                <a:uFillTx/>
                <a:latin typeface="Calibri"/>
                <a:ea typeface="Calibri"/>
              </a:rPr>
              <a:t>Secure Chat &amp; Video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17"/>
          <p:cNvSpPr/>
          <p:nvPr/>
        </p:nvSpPr>
        <p:spPr>
          <a:xfrm>
            <a:off x="914400" y="483732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5c7c78"/>
                </a:solidFill>
                <a:effectLst/>
                <a:uFillTx/>
                <a:latin typeface="Calibri"/>
                <a:ea typeface="Calibri"/>
              </a:rPr>
              <a:t>Real-time messaging and anonymous video meets with your therapist.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18"/>
          <p:cNvSpPr/>
          <p:nvPr/>
        </p:nvSpPr>
        <p:spPr>
          <a:xfrm>
            <a:off x="4338720" y="3611880"/>
            <a:ext cx="3428640" cy="16912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4e9e5"/>
            </a:solidFill>
            <a:round/>
          </a:ln>
          <a:effectLst>
            <a:outerShdw algn="bl" blurRad="101520" dir="5400000" dist="38160" kx="0" ky="0" rotWithShape="0" sx="100000" sy="100000">
              <a:srgbClr val="0b3b38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19"/>
          <p:cNvSpPr/>
          <p:nvPr/>
        </p:nvSpPr>
        <p:spPr>
          <a:xfrm>
            <a:off x="4613040" y="3886200"/>
            <a:ext cx="566640" cy="566640"/>
          </a:xfrm>
          <a:prstGeom prst="ellipse">
            <a:avLst/>
          </a:prstGeom>
          <a:solidFill>
            <a:srgbClr val="0f766e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0b3b38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9" name="Image 5" descr="preencoded.png"/>
          <p:cNvPicPr/>
          <p:nvPr/>
        </p:nvPicPr>
        <p:blipFill>
          <a:blip r:embed="rId6"/>
          <a:stretch/>
        </p:blipFill>
        <p:spPr>
          <a:xfrm>
            <a:off x="4766040" y="4039200"/>
            <a:ext cx="260280" cy="26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" name="Text 20"/>
          <p:cNvSpPr/>
          <p:nvPr/>
        </p:nvSpPr>
        <p:spPr>
          <a:xfrm>
            <a:off x="4613040" y="4544640"/>
            <a:ext cx="2925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50" b="1" u="none" strike="noStrike">
                <a:solidFill>
                  <a:srgbClr val="0b3b38"/>
                </a:solidFill>
                <a:effectLst/>
                <a:uFillTx/>
                <a:latin typeface="Calibri"/>
                <a:ea typeface="Calibri"/>
              </a:rPr>
              <a:t>Self-Help Resources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21"/>
          <p:cNvSpPr/>
          <p:nvPr/>
        </p:nvSpPr>
        <p:spPr>
          <a:xfrm>
            <a:off x="4613040" y="483732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5c7c78"/>
                </a:solidFill>
                <a:effectLst/>
                <a:uFillTx/>
                <a:latin typeface="Calibri"/>
                <a:ea typeface="Calibri"/>
              </a:rPr>
              <a:t>Curated meditations, exercises and guidance for between sessions.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22"/>
          <p:cNvSpPr/>
          <p:nvPr/>
        </p:nvSpPr>
        <p:spPr>
          <a:xfrm>
            <a:off x="8037720" y="3611880"/>
            <a:ext cx="3428640" cy="16912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4e9e5"/>
            </a:solidFill>
            <a:round/>
          </a:ln>
          <a:effectLst>
            <a:outerShdw algn="bl" blurRad="101520" dir="5400000" dist="38160" kx="0" ky="0" rotWithShape="0" sx="100000" sy="100000">
              <a:srgbClr val="0b3b38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23"/>
          <p:cNvSpPr/>
          <p:nvPr/>
        </p:nvSpPr>
        <p:spPr>
          <a:xfrm>
            <a:off x="8312040" y="3886200"/>
            <a:ext cx="566640" cy="566640"/>
          </a:xfrm>
          <a:prstGeom prst="ellipse">
            <a:avLst/>
          </a:prstGeom>
          <a:solidFill>
            <a:srgbClr val="0f766e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0b3b38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4" name="Image 6" descr="preencoded.png"/>
          <p:cNvPicPr/>
          <p:nvPr/>
        </p:nvPicPr>
        <p:blipFill>
          <a:blip r:embed="rId7"/>
          <a:stretch/>
        </p:blipFill>
        <p:spPr>
          <a:xfrm>
            <a:off x="8465040" y="4039200"/>
            <a:ext cx="260280" cy="26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5" name="Text 24"/>
          <p:cNvSpPr/>
          <p:nvPr/>
        </p:nvSpPr>
        <p:spPr>
          <a:xfrm>
            <a:off x="8312040" y="4544640"/>
            <a:ext cx="2925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50" b="1" u="none" strike="noStrike">
                <a:solidFill>
                  <a:srgbClr val="0b3b38"/>
                </a:solidFill>
                <a:effectLst/>
                <a:uFillTx/>
                <a:latin typeface="Calibri"/>
                <a:ea typeface="Calibri"/>
              </a:rPr>
              <a:t>Goals &amp; Progress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25"/>
          <p:cNvSpPr/>
          <p:nvPr/>
        </p:nvSpPr>
        <p:spPr>
          <a:xfrm>
            <a:off x="8312040" y="483732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5c7c78"/>
                </a:solidFill>
                <a:effectLst/>
                <a:uFillTx/>
                <a:latin typeface="Calibri"/>
                <a:ea typeface="Calibri"/>
              </a:rPr>
              <a:t>Set wellness goals and track achievements and progress over time.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Text 0"/>
          <p:cNvSpPr/>
          <p:nvPr/>
        </p:nvSpPr>
        <p:spPr>
          <a:xfrm>
            <a:off x="640080" y="3841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pc="300" strike="noStrike">
                <a:solidFill>
                  <a:srgbClr val="0d9488"/>
                </a:solidFill>
                <a:effectLst/>
                <a:uFillTx/>
                <a:latin typeface="Calibri"/>
                <a:ea typeface="Calibri"/>
              </a:rPr>
              <a:t>KEY FEATURES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1"/>
          <p:cNvSpPr/>
          <p:nvPr/>
        </p:nvSpPr>
        <p:spPr>
          <a:xfrm>
            <a:off x="640080" y="658440"/>
            <a:ext cx="96922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000" b="1" u="none" strike="noStrike">
                <a:solidFill>
                  <a:srgbClr val="0b3b38"/>
                </a:solidFill>
                <a:effectLst/>
                <a:uFillTx/>
                <a:latin typeface="Cambria"/>
                <a:ea typeface="Cambria"/>
              </a:rPr>
              <a:t>For Therapists &amp; Admins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9" name="Image 0" descr="assets/benzi-logo.png"/>
          <p:cNvPicPr/>
          <p:nvPr/>
        </p:nvPicPr>
        <p:blipFill>
          <a:blip r:embed="rId1"/>
          <a:stretch/>
        </p:blipFill>
        <p:spPr>
          <a:xfrm>
            <a:off x="11018520" y="457200"/>
            <a:ext cx="868320" cy="293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0" name="Shape 2"/>
          <p:cNvSpPr/>
          <p:nvPr/>
        </p:nvSpPr>
        <p:spPr>
          <a:xfrm>
            <a:off x="640080" y="1737360"/>
            <a:ext cx="3428640" cy="16912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4e9e5"/>
            </a:solidFill>
            <a:round/>
          </a:ln>
          <a:effectLst>
            <a:outerShdw algn="bl" blurRad="101520" dir="5400000" dist="38160" kx="0" ky="0" rotWithShape="0" sx="100000" sy="100000">
              <a:srgbClr val="0b3b38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3"/>
          <p:cNvSpPr/>
          <p:nvPr/>
        </p:nvSpPr>
        <p:spPr>
          <a:xfrm>
            <a:off x="914400" y="2011680"/>
            <a:ext cx="566640" cy="566640"/>
          </a:xfrm>
          <a:prstGeom prst="ellipse">
            <a:avLst/>
          </a:prstGeom>
          <a:solidFill>
            <a:srgbClr val="0f766e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0b3b38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2" name="Image 1" descr="preencoded.png"/>
          <p:cNvPicPr/>
          <p:nvPr/>
        </p:nvPicPr>
        <p:blipFill>
          <a:blip r:embed="rId2"/>
          <a:stretch/>
        </p:blipFill>
        <p:spPr>
          <a:xfrm>
            <a:off x="1067400" y="2164680"/>
            <a:ext cx="260280" cy="26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3" name="Text 4"/>
          <p:cNvSpPr/>
          <p:nvPr/>
        </p:nvSpPr>
        <p:spPr>
          <a:xfrm>
            <a:off x="914400" y="2670120"/>
            <a:ext cx="2925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50" b="1" u="none" strike="noStrike">
                <a:solidFill>
                  <a:srgbClr val="0b3b38"/>
                </a:solidFill>
                <a:effectLst/>
                <a:uFillTx/>
                <a:latin typeface="Calibri"/>
                <a:ea typeface="Calibri"/>
              </a:rPr>
              <a:t>Therapist Verification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5"/>
          <p:cNvSpPr/>
          <p:nvPr/>
        </p:nvSpPr>
        <p:spPr>
          <a:xfrm>
            <a:off x="914400" y="296280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5c7c78"/>
                </a:solidFill>
                <a:effectLst/>
                <a:uFillTx/>
                <a:latin typeface="Calibri"/>
                <a:ea typeface="Calibri"/>
              </a:rPr>
              <a:t>Document upload and admin approval before therapists go live.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6"/>
          <p:cNvSpPr/>
          <p:nvPr/>
        </p:nvSpPr>
        <p:spPr>
          <a:xfrm>
            <a:off x="4338720" y="1737360"/>
            <a:ext cx="3428640" cy="16912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4e9e5"/>
            </a:solidFill>
            <a:round/>
          </a:ln>
          <a:effectLst>
            <a:outerShdw algn="bl" blurRad="101520" dir="5400000" dist="38160" kx="0" ky="0" rotWithShape="0" sx="100000" sy="100000">
              <a:srgbClr val="0b3b38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7"/>
          <p:cNvSpPr/>
          <p:nvPr/>
        </p:nvSpPr>
        <p:spPr>
          <a:xfrm>
            <a:off x="4613040" y="2011680"/>
            <a:ext cx="566640" cy="566640"/>
          </a:xfrm>
          <a:prstGeom prst="ellipse">
            <a:avLst/>
          </a:prstGeom>
          <a:solidFill>
            <a:srgbClr val="0f766e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0b3b38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7" name="Image 2" descr="preencoded.png"/>
          <p:cNvPicPr/>
          <p:nvPr/>
        </p:nvPicPr>
        <p:blipFill>
          <a:blip r:embed="rId3"/>
          <a:stretch/>
        </p:blipFill>
        <p:spPr>
          <a:xfrm>
            <a:off x="4766040" y="2164680"/>
            <a:ext cx="260280" cy="26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8" name="Text 8"/>
          <p:cNvSpPr/>
          <p:nvPr/>
        </p:nvSpPr>
        <p:spPr>
          <a:xfrm>
            <a:off x="4613040" y="2670120"/>
            <a:ext cx="2925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50" b="1" u="none" strike="noStrike">
                <a:solidFill>
                  <a:srgbClr val="0b3b38"/>
                </a:solidFill>
                <a:effectLst/>
                <a:uFillTx/>
                <a:latin typeface="Calibri"/>
                <a:ea typeface="Calibri"/>
              </a:rPr>
              <a:t>Client Management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9"/>
          <p:cNvSpPr/>
          <p:nvPr/>
        </p:nvSpPr>
        <p:spPr>
          <a:xfrm>
            <a:off x="4613040" y="296280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5c7c78"/>
                </a:solidFill>
                <a:effectLst/>
                <a:uFillTx/>
                <a:latin typeface="Calibri"/>
                <a:ea typeface="Calibri"/>
              </a:rPr>
              <a:t>Per-patient panels with history, notes and AI-generated context briefs.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10"/>
          <p:cNvSpPr/>
          <p:nvPr/>
        </p:nvSpPr>
        <p:spPr>
          <a:xfrm>
            <a:off x="8037720" y="1737360"/>
            <a:ext cx="3428640" cy="16912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4e9e5"/>
            </a:solidFill>
            <a:round/>
          </a:ln>
          <a:effectLst>
            <a:outerShdw algn="bl" blurRad="101520" dir="5400000" dist="38160" kx="0" ky="0" rotWithShape="0" sx="100000" sy="100000">
              <a:srgbClr val="0b3b38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11"/>
          <p:cNvSpPr/>
          <p:nvPr/>
        </p:nvSpPr>
        <p:spPr>
          <a:xfrm>
            <a:off x="8312040" y="2011680"/>
            <a:ext cx="566640" cy="566640"/>
          </a:xfrm>
          <a:prstGeom prst="ellipse">
            <a:avLst/>
          </a:prstGeom>
          <a:solidFill>
            <a:srgbClr val="0f766e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0b3b38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2" name="Image 3" descr="preencoded.png"/>
          <p:cNvPicPr/>
          <p:nvPr/>
        </p:nvPicPr>
        <p:blipFill>
          <a:blip r:embed="rId4"/>
          <a:stretch/>
        </p:blipFill>
        <p:spPr>
          <a:xfrm>
            <a:off x="8465040" y="2164680"/>
            <a:ext cx="260280" cy="26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3" name="Text 12"/>
          <p:cNvSpPr/>
          <p:nvPr/>
        </p:nvSpPr>
        <p:spPr>
          <a:xfrm>
            <a:off x="8312040" y="2670120"/>
            <a:ext cx="2925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50" b="1" u="none" strike="noStrike">
                <a:solidFill>
                  <a:srgbClr val="0b3b38"/>
                </a:solidFill>
                <a:effectLst/>
                <a:uFillTx/>
                <a:latin typeface="Calibri"/>
                <a:ea typeface="Calibri"/>
              </a:rPr>
              <a:t>Availability &amp; Scheduling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13"/>
          <p:cNvSpPr/>
          <p:nvPr/>
        </p:nvSpPr>
        <p:spPr>
          <a:xfrm>
            <a:off x="8312040" y="296280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5c7c78"/>
                </a:solidFill>
                <a:effectLst/>
                <a:uFillTx/>
                <a:latin typeface="Calibri"/>
                <a:ea typeface="Calibri"/>
              </a:rPr>
              <a:t>Set working hours, services and pricing; sync with appointments.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14"/>
          <p:cNvSpPr/>
          <p:nvPr/>
        </p:nvSpPr>
        <p:spPr>
          <a:xfrm>
            <a:off x="640080" y="3611880"/>
            <a:ext cx="3428640" cy="16912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4e9e5"/>
            </a:solidFill>
            <a:round/>
          </a:ln>
          <a:effectLst>
            <a:outerShdw algn="bl" blurRad="101520" dir="5400000" dist="38160" kx="0" ky="0" rotWithShape="0" sx="100000" sy="100000">
              <a:srgbClr val="0b3b38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15"/>
          <p:cNvSpPr/>
          <p:nvPr/>
        </p:nvSpPr>
        <p:spPr>
          <a:xfrm>
            <a:off x="914400" y="3886200"/>
            <a:ext cx="566640" cy="566640"/>
          </a:xfrm>
          <a:prstGeom prst="ellipse">
            <a:avLst/>
          </a:prstGeom>
          <a:solidFill>
            <a:srgbClr val="0f766e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0b3b38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7" name="Image 4" descr="preencoded.png"/>
          <p:cNvPicPr/>
          <p:nvPr/>
        </p:nvPicPr>
        <p:blipFill>
          <a:blip r:embed="rId5"/>
          <a:stretch/>
        </p:blipFill>
        <p:spPr>
          <a:xfrm>
            <a:off x="1067400" y="4039200"/>
            <a:ext cx="260280" cy="26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8" name="Text 16"/>
          <p:cNvSpPr/>
          <p:nvPr/>
        </p:nvSpPr>
        <p:spPr>
          <a:xfrm>
            <a:off x="914400" y="4544640"/>
            <a:ext cx="2925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50" b="1" u="none" strike="noStrike">
                <a:solidFill>
                  <a:srgbClr val="0b3b38"/>
                </a:solidFill>
                <a:effectLst/>
                <a:uFillTx/>
                <a:latin typeface="Calibri"/>
                <a:ea typeface="Calibri"/>
              </a:rPr>
              <a:t>Crisis Alerts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17"/>
          <p:cNvSpPr/>
          <p:nvPr/>
        </p:nvSpPr>
        <p:spPr>
          <a:xfrm>
            <a:off x="914400" y="483732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5c7c78"/>
                </a:solidFill>
                <a:effectLst/>
                <a:uFillTx/>
                <a:latin typeface="Calibri"/>
                <a:ea typeface="Calibri"/>
              </a:rPr>
              <a:t>Instant email alerts when a patient shows crisis signals in chat.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18"/>
          <p:cNvSpPr/>
          <p:nvPr/>
        </p:nvSpPr>
        <p:spPr>
          <a:xfrm>
            <a:off x="4338720" y="3611880"/>
            <a:ext cx="3428640" cy="16912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4e9e5"/>
            </a:solidFill>
            <a:round/>
          </a:ln>
          <a:effectLst>
            <a:outerShdw algn="bl" blurRad="101520" dir="5400000" dist="38160" kx="0" ky="0" rotWithShape="0" sx="100000" sy="100000">
              <a:srgbClr val="0b3b38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19"/>
          <p:cNvSpPr/>
          <p:nvPr/>
        </p:nvSpPr>
        <p:spPr>
          <a:xfrm>
            <a:off x="4613040" y="3886200"/>
            <a:ext cx="566640" cy="566640"/>
          </a:xfrm>
          <a:prstGeom prst="ellipse">
            <a:avLst/>
          </a:prstGeom>
          <a:solidFill>
            <a:srgbClr val="0f766e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0b3b38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2" name="Image 5" descr="preencoded.png"/>
          <p:cNvPicPr/>
          <p:nvPr/>
        </p:nvPicPr>
        <p:blipFill>
          <a:blip r:embed="rId6"/>
          <a:stretch/>
        </p:blipFill>
        <p:spPr>
          <a:xfrm>
            <a:off x="4766040" y="4039200"/>
            <a:ext cx="260280" cy="26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3" name="Text 20"/>
          <p:cNvSpPr/>
          <p:nvPr/>
        </p:nvSpPr>
        <p:spPr>
          <a:xfrm>
            <a:off x="4613040" y="4544640"/>
            <a:ext cx="2925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50" b="1" u="none" strike="noStrike">
                <a:solidFill>
                  <a:srgbClr val="0b3b38"/>
                </a:solidFill>
                <a:effectLst/>
                <a:uFillTx/>
                <a:latin typeface="Calibri"/>
                <a:ea typeface="Calibri"/>
              </a:rPr>
              <a:t>Subscriptions &amp; Billing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21"/>
          <p:cNvSpPr/>
          <p:nvPr/>
        </p:nvSpPr>
        <p:spPr>
          <a:xfrm>
            <a:off x="4613040" y="483732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5c7c78"/>
                </a:solidFill>
                <a:effectLst/>
                <a:uFillTx/>
                <a:latin typeface="Calibri"/>
                <a:ea typeface="Calibri"/>
              </a:rPr>
              <a:t>Stripe-powered plans, coupons and usage limits for therapists.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22"/>
          <p:cNvSpPr/>
          <p:nvPr/>
        </p:nvSpPr>
        <p:spPr>
          <a:xfrm>
            <a:off x="8037720" y="3611880"/>
            <a:ext cx="3428640" cy="16912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4e9e5"/>
            </a:solidFill>
            <a:round/>
          </a:ln>
          <a:effectLst>
            <a:outerShdw algn="bl" blurRad="101520" dir="5400000" dist="38160" kx="0" ky="0" rotWithShape="0" sx="100000" sy="100000">
              <a:srgbClr val="0b3b38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23"/>
          <p:cNvSpPr/>
          <p:nvPr/>
        </p:nvSpPr>
        <p:spPr>
          <a:xfrm>
            <a:off x="8312040" y="3886200"/>
            <a:ext cx="566640" cy="566640"/>
          </a:xfrm>
          <a:prstGeom prst="ellipse">
            <a:avLst/>
          </a:prstGeom>
          <a:solidFill>
            <a:srgbClr val="0f766e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0b3b38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7" name="Image 6" descr="preencoded.png"/>
          <p:cNvPicPr/>
          <p:nvPr/>
        </p:nvPicPr>
        <p:blipFill>
          <a:blip r:embed="rId7"/>
          <a:stretch/>
        </p:blipFill>
        <p:spPr>
          <a:xfrm>
            <a:off x="8465040" y="4039200"/>
            <a:ext cx="260280" cy="26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8" name="Text 24"/>
          <p:cNvSpPr/>
          <p:nvPr/>
        </p:nvSpPr>
        <p:spPr>
          <a:xfrm>
            <a:off x="8312040" y="4544640"/>
            <a:ext cx="2925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50" b="1" u="none" strike="noStrike">
                <a:solidFill>
                  <a:srgbClr val="0b3b38"/>
                </a:solidFill>
                <a:effectLst/>
                <a:uFillTx/>
                <a:latin typeface="Calibri"/>
                <a:ea typeface="Calibri"/>
              </a:rPr>
              <a:t>Revenue &amp; Analytics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25"/>
          <p:cNvSpPr/>
          <p:nvPr/>
        </p:nvSpPr>
        <p:spPr>
          <a:xfrm>
            <a:off x="8312040" y="483732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5c7c78"/>
                </a:solidFill>
                <a:effectLst/>
                <a:uFillTx/>
                <a:latin typeface="Calibri"/>
                <a:ea typeface="Calibri"/>
              </a:rPr>
              <a:t>Admin dashboards for revenue, subscriptions and platform health.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ext 0"/>
          <p:cNvSpPr/>
          <p:nvPr/>
        </p:nvSpPr>
        <p:spPr>
          <a:xfrm>
            <a:off x="640080" y="3841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pc="300" strike="noStrike">
                <a:solidFill>
                  <a:srgbClr val="0d9488"/>
                </a:solidFill>
                <a:effectLst/>
                <a:uFillTx/>
                <a:latin typeface="Calibri"/>
                <a:ea typeface="Calibri"/>
              </a:rPr>
              <a:t>SYSTEM DESIGN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1"/>
          <p:cNvSpPr/>
          <p:nvPr/>
        </p:nvSpPr>
        <p:spPr>
          <a:xfrm>
            <a:off x="640080" y="658440"/>
            <a:ext cx="96922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000" b="1" u="none" strike="noStrike">
                <a:solidFill>
                  <a:srgbClr val="0b3b38"/>
                </a:solidFill>
                <a:effectLst/>
                <a:uFillTx/>
                <a:latin typeface="Cambria"/>
                <a:ea typeface="Cambria"/>
              </a:rPr>
              <a:t>Entity Relationship Diagram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2" name="Image 0" descr="assets/benzi-logo.png"/>
          <p:cNvPicPr/>
          <p:nvPr/>
        </p:nvPicPr>
        <p:blipFill>
          <a:blip r:embed="rId1"/>
          <a:stretch/>
        </p:blipFill>
        <p:spPr>
          <a:xfrm>
            <a:off x="11018520" y="457200"/>
            <a:ext cx="868320" cy="293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3" name="Shape 2"/>
          <p:cNvSpPr/>
          <p:nvPr/>
        </p:nvSpPr>
        <p:spPr>
          <a:xfrm>
            <a:off x="640080" y="1554480"/>
            <a:ext cx="10908360" cy="493740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4e9e5"/>
            </a:solidFill>
            <a:round/>
          </a:ln>
          <a:effectLst>
            <a:outerShdw algn="bl" blurRad="101520" dir="5400000" dist="38160" kx="0" ky="0" rotWithShape="0" sx="100000" sy="100000">
              <a:srgbClr val="0b3b38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4" name="Image 1" descr="assets/erd.png"/>
          <p:cNvPicPr/>
          <p:nvPr/>
        </p:nvPicPr>
        <p:blipFill>
          <a:blip r:embed="rId2"/>
          <a:stretch/>
        </p:blipFill>
        <p:spPr>
          <a:xfrm>
            <a:off x="1864800" y="1700640"/>
            <a:ext cx="8458920" cy="433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5" name="Text 3"/>
          <p:cNvSpPr/>
          <p:nvPr/>
        </p:nvSpPr>
        <p:spPr>
          <a:xfrm>
            <a:off x="640080" y="6144840"/>
            <a:ext cx="109083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i="1" u="none" strike="noStrike">
                <a:solidFill>
                  <a:srgbClr val="5c7c78"/>
                </a:solidFill>
                <a:effectLst/>
                <a:uFillTx/>
                <a:latin typeface="Calibri"/>
                <a:ea typeface="Calibri"/>
              </a:rPr>
              <a:t>Core entities — User · Patient · Therapist · Appointment · Service · Message · Record · AI data · Subscriptions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Text 0"/>
          <p:cNvSpPr/>
          <p:nvPr/>
        </p:nvSpPr>
        <p:spPr>
          <a:xfrm>
            <a:off x="640080" y="3841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pc="300" strike="noStrike">
                <a:solidFill>
                  <a:srgbClr val="0d9488"/>
                </a:solidFill>
                <a:effectLst/>
                <a:uFillTx/>
                <a:latin typeface="Calibri"/>
                <a:ea typeface="Calibri"/>
              </a:rPr>
              <a:t>SYSTEM DESIGN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1"/>
          <p:cNvSpPr/>
          <p:nvPr/>
        </p:nvSpPr>
        <p:spPr>
          <a:xfrm>
            <a:off x="640080" y="658440"/>
            <a:ext cx="96922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000" b="1" u="none" strike="noStrike">
                <a:solidFill>
                  <a:srgbClr val="0b3b38"/>
                </a:solidFill>
                <a:effectLst/>
                <a:uFillTx/>
                <a:latin typeface="Cambria"/>
                <a:ea typeface="Cambria"/>
              </a:rPr>
              <a:t>Data Flow Diagram — Level 1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8" name="Image 0" descr="assets/benzi-logo.png"/>
          <p:cNvPicPr/>
          <p:nvPr/>
        </p:nvPicPr>
        <p:blipFill>
          <a:blip r:embed="rId1"/>
          <a:stretch/>
        </p:blipFill>
        <p:spPr>
          <a:xfrm>
            <a:off x="11018520" y="457200"/>
            <a:ext cx="868320" cy="293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9" name="Shape 2"/>
          <p:cNvSpPr/>
          <p:nvPr/>
        </p:nvSpPr>
        <p:spPr>
          <a:xfrm>
            <a:off x="640080" y="1691640"/>
            <a:ext cx="10908360" cy="470880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d4e9e5"/>
            </a:solidFill>
            <a:round/>
          </a:ln>
          <a:effectLst>
            <a:outerShdw algn="bl" blurRad="101520" dir="5400000" dist="38160" kx="0" ky="0" rotWithShape="0" sx="100000" sy="100000">
              <a:srgbClr val="0b3b38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0" name="Image 1" descr="assets/dfd.png"/>
          <p:cNvPicPr/>
          <p:nvPr/>
        </p:nvPicPr>
        <p:blipFill>
          <a:blip r:embed="rId2"/>
          <a:stretch/>
        </p:blipFill>
        <p:spPr>
          <a:xfrm>
            <a:off x="786240" y="2116800"/>
            <a:ext cx="10615680" cy="3547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1" name="Text 3"/>
          <p:cNvSpPr/>
          <p:nvPr/>
        </p:nvSpPr>
        <p:spPr>
          <a:xfrm>
            <a:off x="640080" y="6053400"/>
            <a:ext cx="109083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i="1" u="none" strike="noStrike">
                <a:solidFill>
                  <a:srgbClr val="5c7c78"/>
                </a:solidFill>
                <a:effectLst/>
                <a:uFillTx/>
                <a:latin typeface="Calibri"/>
                <a:ea typeface="Calibri"/>
              </a:rPr>
              <a:t>External entities, six core processes and data stores — auth, appointments, messaging, records &amp; AI, billing, admin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Text 0"/>
          <p:cNvSpPr/>
          <p:nvPr/>
        </p:nvSpPr>
        <p:spPr>
          <a:xfrm>
            <a:off x="640080" y="3841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pc="300" strike="noStrike">
                <a:solidFill>
                  <a:srgbClr val="0d9488"/>
                </a:solidFill>
                <a:effectLst/>
                <a:uFillTx/>
                <a:latin typeface="Calibri"/>
                <a:ea typeface="Calibri"/>
              </a:rPr>
              <a:t>IMPLEMENTATION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1"/>
          <p:cNvSpPr/>
          <p:nvPr/>
        </p:nvSpPr>
        <p:spPr>
          <a:xfrm>
            <a:off x="640080" y="658440"/>
            <a:ext cx="96922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000" b="1" u="none" strike="noStrike">
                <a:solidFill>
                  <a:srgbClr val="0b3b38"/>
                </a:solidFill>
                <a:effectLst/>
                <a:uFillTx/>
                <a:latin typeface="Cambria"/>
                <a:ea typeface="Cambria"/>
              </a:rPr>
              <a:t>Technology Stack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4" name="Image 0" descr="assets/benzi-logo.png"/>
          <p:cNvPicPr/>
          <p:nvPr/>
        </p:nvPicPr>
        <p:blipFill>
          <a:blip r:embed="rId1"/>
          <a:stretch/>
        </p:blipFill>
        <p:spPr>
          <a:xfrm>
            <a:off x="11018520" y="457200"/>
            <a:ext cx="868320" cy="293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5" name="Shape 2"/>
          <p:cNvSpPr/>
          <p:nvPr/>
        </p:nvSpPr>
        <p:spPr>
          <a:xfrm>
            <a:off x="640080" y="1783080"/>
            <a:ext cx="2541600" cy="429732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d4e9e5"/>
            </a:solidFill>
            <a:round/>
          </a:ln>
          <a:effectLst>
            <a:outerShdw algn="bl" blurRad="101520" dir="5400000" dist="38160" kx="0" ky="0" rotWithShape="0" sx="100000" sy="100000">
              <a:srgbClr val="0b3b38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3"/>
          <p:cNvSpPr/>
          <p:nvPr/>
        </p:nvSpPr>
        <p:spPr>
          <a:xfrm>
            <a:off x="932760" y="2057400"/>
            <a:ext cx="603000" cy="603000"/>
          </a:xfrm>
          <a:prstGeom prst="ellipse">
            <a:avLst/>
          </a:prstGeom>
          <a:solidFill>
            <a:srgbClr val="0f766e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0b3b38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7" name="Image 1" descr="preencoded.png"/>
          <p:cNvPicPr/>
          <p:nvPr/>
        </p:nvPicPr>
        <p:blipFill>
          <a:blip r:embed="rId2"/>
          <a:stretch/>
        </p:blipFill>
        <p:spPr>
          <a:xfrm>
            <a:off x="1095480" y="2220480"/>
            <a:ext cx="277200" cy="27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8" name="Text 4"/>
          <p:cNvSpPr/>
          <p:nvPr/>
        </p:nvSpPr>
        <p:spPr>
          <a:xfrm>
            <a:off x="932760" y="2788920"/>
            <a:ext cx="2011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0b3b38"/>
                </a:solidFill>
                <a:effectLst/>
                <a:uFillTx/>
                <a:latin typeface="Calibri"/>
                <a:ea typeface="Calibri"/>
              </a:rPr>
              <a:t>Frontend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5"/>
          <p:cNvSpPr/>
          <p:nvPr/>
        </p:nvSpPr>
        <p:spPr>
          <a:xfrm>
            <a:off x="951120" y="3200400"/>
            <a:ext cx="210276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177840" indent="-177840" defTabSz="914400">
              <a:lnSpc>
                <a:spcPct val="100000"/>
              </a:lnSpc>
              <a:spcAft>
                <a:spcPts val="799"/>
              </a:spcAft>
              <a:buClr>
                <a:srgbClr val="13322f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3322f"/>
                </a:solidFill>
                <a:effectLst/>
                <a:uFillTx/>
                <a:latin typeface="Calibri"/>
                <a:ea typeface="Calibri"/>
              </a:rPr>
              <a:t>React + Vite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799"/>
              </a:spcAft>
              <a:buClr>
                <a:srgbClr val="13322f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3322f"/>
                </a:solidFill>
                <a:effectLst/>
                <a:uFillTx/>
                <a:latin typeface="Calibri"/>
                <a:ea typeface="Calibri"/>
              </a:rPr>
              <a:t>Tailwind CSS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799"/>
              </a:spcAft>
              <a:buClr>
                <a:srgbClr val="13322f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3322f"/>
                </a:solidFill>
                <a:effectLst/>
                <a:uFillTx/>
                <a:latin typeface="Calibri"/>
                <a:ea typeface="Calibri"/>
              </a:rPr>
              <a:t>Socket.IO client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799"/>
              </a:spcAft>
              <a:buClr>
                <a:srgbClr val="13322f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3322f"/>
                </a:solidFill>
                <a:effectLst/>
                <a:uFillTx/>
                <a:latin typeface="Calibri"/>
                <a:ea typeface="Calibri"/>
              </a:rPr>
              <a:t>React Router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6"/>
          <p:cNvSpPr/>
          <p:nvPr/>
        </p:nvSpPr>
        <p:spPr>
          <a:xfrm>
            <a:off x="3420000" y="1783080"/>
            <a:ext cx="2541600" cy="429732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d4e9e5"/>
            </a:solidFill>
            <a:round/>
          </a:ln>
          <a:effectLst>
            <a:outerShdw algn="bl" blurRad="101520" dir="5400000" dist="38160" kx="0" ky="0" rotWithShape="0" sx="100000" sy="100000">
              <a:srgbClr val="0b3b38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7"/>
          <p:cNvSpPr/>
          <p:nvPr/>
        </p:nvSpPr>
        <p:spPr>
          <a:xfrm>
            <a:off x="3712320" y="2057400"/>
            <a:ext cx="603000" cy="603000"/>
          </a:xfrm>
          <a:prstGeom prst="ellipse">
            <a:avLst/>
          </a:prstGeom>
          <a:solidFill>
            <a:srgbClr val="0f766e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0b3b38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2" name="Image 2" descr="preencoded.png"/>
          <p:cNvPicPr/>
          <p:nvPr/>
        </p:nvPicPr>
        <p:blipFill>
          <a:blip r:embed="rId3"/>
          <a:stretch/>
        </p:blipFill>
        <p:spPr>
          <a:xfrm>
            <a:off x="3875400" y="2220480"/>
            <a:ext cx="277200" cy="27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3" name="Text 8"/>
          <p:cNvSpPr/>
          <p:nvPr/>
        </p:nvSpPr>
        <p:spPr>
          <a:xfrm>
            <a:off x="3712320" y="2788920"/>
            <a:ext cx="2011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0b3b38"/>
                </a:solidFill>
                <a:effectLst/>
                <a:uFillTx/>
                <a:latin typeface="Calibri"/>
                <a:ea typeface="Calibri"/>
              </a:rPr>
              <a:t>Backend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9"/>
          <p:cNvSpPr/>
          <p:nvPr/>
        </p:nvSpPr>
        <p:spPr>
          <a:xfrm>
            <a:off x="3730680" y="3200400"/>
            <a:ext cx="210276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177840" indent="-177840" defTabSz="914400">
              <a:lnSpc>
                <a:spcPct val="100000"/>
              </a:lnSpc>
              <a:spcAft>
                <a:spcPts val="799"/>
              </a:spcAft>
              <a:buClr>
                <a:srgbClr val="13322f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3322f"/>
                </a:solidFill>
                <a:effectLst/>
                <a:uFillTx/>
                <a:latin typeface="Calibri"/>
                <a:ea typeface="Calibri"/>
              </a:rPr>
              <a:t>Node.js + Express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799"/>
              </a:spcAft>
              <a:buClr>
                <a:srgbClr val="13322f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3322f"/>
                </a:solidFill>
                <a:effectLst/>
                <a:uFillTx/>
                <a:latin typeface="Calibri"/>
                <a:ea typeface="Calibri"/>
              </a:rPr>
              <a:t>MongoDB + Mongoose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799"/>
              </a:spcAft>
              <a:buClr>
                <a:srgbClr val="13322f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3322f"/>
                </a:solidFill>
                <a:effectLst/>
                <a:uFillTx/>
                <a:latin typeface="Calibri"/>
                <a:ea typeface="Calibri"/>
              </a:rPr>
              <a:t>Redis + BullMQ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799"/>
              </a:spcAft>
              <a:buClr>
                <a:srgbClr val="13322f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3322f"/>
                </a:solidFill>
                <a:effectLst/>
                <a:uFillTx/>
                <a:latin typeface="Calibri"/>
                <a:ea typeface="Calibri"/>
              </a:rPr>
              <a:t>Socket.IO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10"/>
          <p:cNvSpPr/>
          <p:nvPr/>
        </p:nvSpPr>
        <p:spPr>
          <a:xfrm>
            <a:off x="6199560" y="1783080"/>
            <a:ext cx="2541600" cy="429732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d4e9e5"/>
            </a:solidFill>
            <a:round/>
          </a:ln>
          <a:effectLst>
            <a:outerShdw algn="bl" blurRad="101520" dir="5400000" dist="38160" kx="0" ky="0" rotWithShape="0" sx="100000" sy="100000">
              <a:srgbClr val="0b3b38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11"/>
          <p:cNvSpPr/>
          <p:nvPr/>
        </p:nvSpPr>
        <p:spPr>
          <a:xfrm>
            <a:off x="6492240" y="2057400"/>
            <a:ext cx="603000" cy="603000"/>
          </a:xfrm>
          <a:prstGeom prst="ellipse">
            <a:avLst/>
          </a:prstGeom>
          <a:solidFill>
            <a:srgbClr val="0f766e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0b3b38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7" name="Image 3" descr="preencoded.png"/>
          <p:cNvPicPr/>
          <p:nvPr/>
        </p:nvPicPr>
        <p:blipFill>
          <a:blip r:embed="rId4"/>
          <a:stretch/>
        </p:blipFill>
        <p:spPr>
          <a:xfrm>
            <a:off x="6655320" y="2220480"/>
            <a:ext cx="277200" cy="27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8" name="Text 12"/>
          <p:cNvSpPr/>
          <p:nvPr/>
        </p:nvSpPr>
        <p:spPr>
          <a:xfrm>
            <a:off x="6492240" y="2788920"/>
            <a:ext cx="2011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0b3b38"/>
                </a:solidFill>
                <a:effectLst/>
                <a:uFillTx/>
                <a:latin typeface="Calibri"/>
                <a:ea typeface="Calibri"/>
              </a:rPr>
              <a:t>AI / ML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13"/>
          <p:cNvSpPr/>
          <p:nvPr/>
        </p:nvSpPr>
        <p:spPr>
          <a:xfrm>
            <a:off x="6510600" y="3200400"/>
            <a:ext cx="210276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177840" indent="-177840" defTabSz="914400">
              <a:lnSpc>
                <a:spcPct val="100000"/>
              </a:lnSpc>
              <a:spcAft>
                <a:spcPts val="799"/>
              </a:spcAft>
              <a:buClr>
                <a:srgbClr val="13322f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3322f"/>
                </a:solidFill>
                <a:effectLst/>
                <a:uFillTx/>
                <a:latin typeface="Calibri"/>
                <a:ea typeface="Calibri"/>
              </a:rPr>
              <a:t>Python · PyTorch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799"/>
              </a:spcAft>
              <a:buClr>
                <a:srgbClr val="13322f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3322f"/>
                </a:solidFill>
                <a:effectLst/>
                <a:uFillTx/>
                <a:latin typeface="Calibri"/>
                <a:ea typeface="Calibri"/>
              </a:rPr>
              <a:t>Llama 3.2:3B  + QLoRA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799"/>
              </a:spcAft>
              <a:buClr>
                <a:srgbClr val="13322f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3322f"/>
                </a:solidFill>
                <a:effectLst/>
                <a:uFillTx/>
                <a:latin typeface="Calibri"/>
                <a:ea typeface="Calibri"/>
              </a:rPr>
              <a:t>Ollama (local)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799"/>
              </a:spcAft>
              <a:buClr>
                <a:srgbClr val="13322f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3322f"/>
                </a:solidFill>
                <a:effectLst/>
                <a:uFillTx/>
                <a:latin typeface="Calibri"/>
                <a:ea typeface="Calibri"/>
              </a:rPr>
              <a:t>RAG embeddings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 14"/>
          <p:cNvSpPr/>
          <p:nvPr/>
        </p:nvSpPr>
        <p:spPr>
          <a:xfrm>
            <a:off x="8979480" y="1783080"/>
            <a:ext cx="2541600" cy="429732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d4e9e5"/>
            </a:solidFill>
            <a:round/>
          </a:ln>
          <a:effectLst>
            <a:outerShdw algn="bl" blurRad="101520" dir="5400000" dist="38160" kx="0" ky="0" rotWithShape="0" sx="100000" sy="100000">
              <a:srgbClr val="0b3b38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15"/>
          <p:cNvSpPr/>
          <p:nvPr/>
        </p:nvSpPr>
        <p:spPr>
          <a:xfrm>
            <a:off x="9272160" y="2057400"/>
            <a:ext cx="603000" cy="603000"/>
          </a:xfrm>
          <a:prstGeom prst="ellipse">
            <a:avLst/>
          </a:prstGeom>
          <a:solidFill>
            <a:srgbClr val="0f766e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0b3b38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2" name="Image 4" descr="preencoded.png"/>
          <p:cNvPicPr/>
          <p:nvPr/>
        </p:nvPicPr>
        <p:blipFill>
          <a:blip r:embed="rId5"/>
          <a:stretch/>
        </p:blipFill>
        <p:spPr>
          <a:xfrm>
            <a:off x="9434880" y="2220480"/>
            <a:ext cx="277200" cy="27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3" name="Text 16"/>
          <p:cNvSpPr/>
          <p:nvPr/>
        </p:nvSpPr>
        <p:spPr>
          <a:xfrm>
            <a:off x="9272160" y="2788920"/>
            <a:ext cx="2011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0b3b38"/>
                </a:solidFill>
                <a:effectLst/>
                <a:uFillTx/>
                <a:latin typeface="Calibri"/>
                <a:ea typeface="Calibri"/>
              </a:rPr>
              <a:t>Integrations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17"/>
          <p:cNvSpPr/>
          <p:nvPr/>
        </p:nvSpPr>
        <p:spPr>
          <a:xfrm>
            <a:off x="9290160" y="3200400"/>
            <a:ext cx="210276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177840" indent="-177840" defTabSz="914400">
              <a:lnSpc>
                <a:spcPct val="100000"/>
              </a:lnSpc>
              <a:spcAft>
                <a:spcPts val="799"/>
              </a:spcAft>
              <a:buClr>
                <a:srgbClr val="13322f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3322f"/>
                </a:solidFill>
                <a:effectLst/>
                <a:uFillTx/>
                <a:latin typeface="Calibri"/>
                <a:ea typeface="Calibri"/>
              </a:rPr>
              <a:t>Stripe billing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799"/>
              </a:spcAft>
              <a:buClr>
                <a:srgbClr val="13322f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3322f"/>
                </a:solidFill>
                <a:effectLst/>
                <a:uFillTx/>
                <a:latin typeface="Calibri"/>
                <a:ea typeface="Calibri"/>
              </a:rPr>
              <a:t>JWT + 2FA auth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799"/>
              </a:spcAft>
              <a:buClr>
                <a:srgbClr val="13322f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3322f"/>
                </a:solidFill>
                <a:effectLst/>
                <a:uFillTx/>
                <a:latin typeface="Calibri"/>
                <a:ea typeface="Calibri"/>
              </a:rPr>
              <a:t>Nodemailer email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799"/>
              </a:spcAft>
              <a:buClr>
                <a:srgbClr val="13322f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3322f"/>
                </a:solidFill>
                <a:effectLst/>
                <a:uFillTx/>
                <a:latin typeface="Calibri"/>
                <a:ea typeface="Calibri"/>
              </a:rPr>
              <a:t>Google Calendar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Text 0"/>
          <p:cNvSpPr/>
          <p:nvPr/>
        </p:nvSpPr>
        <p:spPr>
          <a:xfrm>
            <a:off x="640080" y="3841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pc="300" strike="noStrike">
                <a:solidFill>
                  <a:srgbClr val="0d9488"/>
                </a:solidFill>
                <a:effectLst/>
                <a:uFillTx/>
                <a:latin typeface="Calibri"/>
                <a:ea typeface="Calibri"/>
              </a:rPr>
              <a:t>DEMONSTRATION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1"/>
          <p:cNvSpPr/>
          <p:nvPr/>
        </p:nvSpPr>
        <p:spPr>
          <a:xfrm>
            <a:off x="640080" y="658440"/>
            <a:ext cx="96922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000" b="1" u="none" strike="noStrike">
                <a:solidFill>
                  <a:srgbClr val="0b3b38"/>
                </a:solidFill>
                <a:effectLst/>
                <a:uFillTx/>
                <a:latin typeface="Cambria"/>
                <a:ea typeface="Cambria"/>
              </a:rPr>
              <a:t>Application Screenshots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7" name="Image 0" descr="assets/benzi-logo.png"/>
          <p:cNvPicPr/>
          <p:nvPr/>
        </p:nvPicPr>
        <p:blipFill>
          <a:blip r:embed="rId1"/>
          <a:stretch/>
        </p:blipFill>
        <p:spPr>
          <a:xfrm>
            <a:off x="11018520" y="457200"/>
            <a:ext cx="868320" cy="293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8" name="Shape 2"/>
          <p:cNvSpPr/>
          <p:nvPr/>
        </p:nvSpPr>
        <p:spPr>
          <a:xfrm>
            <a:off x="640080" y="2057400"/>
            <a:ext cx="3867480" cy="4114440"/>
          </a:xfrm>
          <a:prstGeom prst="roundRect">
            <a:avLst>
              <a:gd name="adj" fmla="val 1891"/>
            </a:avLst>
          </a:prstGeom>
          <a:solidFill>
            <a:srgbClr val="ffffff"/>
          </a:solidFill>
          <a:ln w="12700">
            <a:solidFill>
              <a:srgbClr val="d4e9e5"/>
            </a:solidFill>
            <a:round/>
          </a:ln>
          <a:effectLst>
            <a:outerShdw algn="bl" blurRad="101520" dir="5400000" dist="38160" kx="0" ky="0" rotWithShape="0" sx="100000" sy="100000">
              <a:srgbClr val="0b3b38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9" name="Image 1" descr="assets/shot-patient-dash.png"/>
          <p:cNvPicPr/>
          <p:nvPr/>
        </p:nvPicPr>
        <p:blipFill>
          <a:blip r:embed="rId2"/>
          <a:stretch/>
        </p:blipFill>
        <p:spPr>
          <a:xfrm>
            <a:off x="786240" y="2379600"/>
            <a:ext cx="3574800" cy="3159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0" name="Text 3"/>
          <p:cNvSpPr/>
          <p:nvPr/>
        </p:nvSpPr>
        <p:spPr>
          <a:xfrm>
            <a:off x="640080" y="5824800"/>
            <a:ext cx="38674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i="1" u="none" strike="noStrike">
                <a:solidFill>
                  <a:srgbClr val="5c7c78"/>
                </a:solidFill>
                <a:effectLst/>
                <a:uFillTx/>
                <a:latin typeface="Calibri"/>
                <a:ea typeface="Calibri"/>
              </a:rPr>
              <a:t>Patient Dashboard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4"/>
          <p:cNvSpPr/>
          <p:nvPr/>
        </p:nvSpPr>
        <p:spPr>
          <a:xfrm>
            <a:off x="4782240" y="2057400"/>
            <a:ext cx="2614680" cy="4114440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 w="12700">
            <a:solidFill>
              <a:srgbClr val="d4e9e5"/>
            </a:solidFill>
            <a:round/>
          </a:ln>
          <a:effectLst>
            <a:outerShdw algn="bl" blurRad="101520" dir="5400000" dist="38160" kx="0" ky="0" rotWithShape="0" sx="100000" sy="100000">
              <a:srgbClr val="0b3b38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2" name="Image 2" descr="assets/shot-chat.png"/>
          <p:cNvPicPr/>
          <p:nvPr/>
        </p:nvPicPr>
        <p:blipFill>
          <a:blip r:embed="rId3"/>
          <a:stretch/>
        </p:blipFill>
        <p:spPr>
          <a:xfrm>
            <a:off x="4928760" y="2440800"/>
            <a:ext cx="2322360" cy="303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3" name="Text 5"/>
          <p:cNvSpPr/>
          <p:nvPr/>
        </p:nvSpPr>
        <p:spPr>
          <a:xfrm>
            <a:off x="4782240" y="5824800"/>
            <a:ext cx="2614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i="1" u="none" strike="noStrike">
                <a:solidFill>
                  <a:srgbClr val="5c7c78"/>
                </a:solidFill>
                <a:effectLst/>
                <a:uFillTx/>
                <a:latin typeface="Calibri"/>
                <a:ea typeface="Calibri"/>
              </a:rPr>
              <a:t>Benzi AI Chat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6"/>
          <p:cNvSpPr/>
          <p:nvPr/>
        </p:nvSpPr>
        <p:spPr>
          <a:xfrm>
            <a:off x="7671960" y="2057400"/>
            <a:ext cx="3867480" cy="4114440"/>
          </a:xfrm>
          <a:prstGeom prst="roundRect">
            <a:avLst>
              <a:gd name="adj" fmla="val 1891"/>
            </a:avLst>
          </a:prstGeom>
          <a:solidFill>
            <a:srgbClr val="ffffff"/>
          </a:solidFill>
          <a:ln w="12700">
            <a:solidFill>
              <a:srgbClr val="d4e9e5"/>
            </a:solidFill>
            <a:round/>
          </a:ln>
          <a:effectLst>
            <a:outerShdw algn="bl" blurRad="101520" dir="5400000" dist="38160" kx="0" ky="0" rotWithShape="0" sx="100000" sy="100000">
              <a:srgbClr val="0b3b38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5" name="Image 3" descr="assets/shot-therapist-dash.png"/>
          <p:cNvPicPr/>
          <p:nvPr/>
        </p:nvPicPr>
        <p:blipFill>
          <a:blip r:embed="rId4"/>
          <a:stretch/>
        </p:blipFill>
        <p:spPr>
          <a:xfrm>
            <a:off x="7818120" y="2407320"/>
            <a:ext cx="3574800" cy="3103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6" name="Text 7"/>
          <p:cNvSpPr/>
          <p:nvPr/>
        </p:nvSpPr>
        <p:spPr>
          <a:xfrm>
            <a:off x="7671960" y="5824800"/>
            <a:ext cx="38674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i="1" u="none" strike="noStrike">
                <a:solidFill>
                  <a:srgbClr val="5c7c78"/>
                </a:solidFill>
                <a:effectLst/>
                <a:uFillTx/>
                <a:latin typeface="Calibri"/>
                <a:ea typeface="Calibri"/>
              </a:rPr>
              <a:t>Therapist Dashboard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3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Text 0"/>
          <p:cNvSpPr/>
          <p:nvPr/>
        </p:nvSpPr>
        <p:spPr>
          <a:xfrm>
            <a:off x="64008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pc="300" strike="noStrike">
                <a:solidFill>
                  <a:srgbClr val="5eead4"/>
                </a:solidFill>
                <a:effectLst/>
                <a:uFillTx/>
                <a:latin typeface="Calibri"/>
                <a:ea typeface="Calibri"/>
              </a:rPr>
              <a:t>WRAPPING UP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1"/>
          <p:cNvSpPr/>
          <p:nvPr/>
        </p:nvSpPr>
        <p:spPr>
          <a:xfrm>
            <a:off x="640080" y="777240"/>
            <a:ext cx="10058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Conclusion &amp; Future Work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2"/>
          <p:cNvSpPr/>
          <p:nvPr/>
        </p:nvSpPr>
        <p:spPr>
          <a:xfrm>
            <a:off x="9601200" y="502920"/>
            <a:ext cx="2285640" cy="84096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0">
            <a:noFill/>
          </a:ln>
          <a:effectLst>
            <a:outerShdw algn="bl" blurRad="127080" dir="5400000" dist="38160" kx="0" ky="0" rotWithShape="0" sx="100000" sy="100000">
              <a:srgbClr val="0b3b3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0" name="Image 0" descr="assets/benzi-logo.png"/>
          <p:cNvPicPr/>
          <p:nvPr/>
        </p:nvPicPr>
        <p:blipFill>
          <a:blip r:embed="rId1"/>
          <a:stretch/>
        </p:blipFill>
        <p:spPr>
          <a:xfrm>
            <a:off x="9985320" y="722520"/>
            <a:ext cx="1517400" cy="512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1" name="Shape 3"/>
          <p:cNvSpPr/>
          <p:nvPr/>
        </p:nvSpPr>
        <p:spPr>
          <a:xfrm>
            <a:off x="640080" y="1828800"/>
            <a:ext cx="5348880" cy="4434480"/>
          </a:xfrm>
          <a:prstGeom prst="roundRect">
            <a:avLst>
              <a:gd name="adj" fmla="val 2062"/>
            </a:avLst>
          </a:prstGeom>
          <a:solidFill>
            <a:srgbClr val="072b29"/>
          </a:solidFill>
          <a:ln w="127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4"/>
          <p:cNvSpPr/>
          <p:nvPr/>
        </p:nvSpPr>
        <p:spPr>
          <a:xfrm>
            <a:off x="960120" y="2148840"/>
            <a:ext cx="639720" cy="639720"/>
          </a:xfrm>
          <a:prstGeom prst="ellipse">
            <a:avLst/>
          </a:prstGeom>
          <a:solidFill>
            <a:srgbClr val="0d9488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0b3b38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3" name="Image 1" descr="preencoded.png"/>
          <p:cNvPicPr/>
          <p:nvPr/>
        </p:nvPicPr>
        <p:blipFill>
          <a:blip r:embed="rId2"/>
          <a:stretch/>
        </p:blipFill>
        <p:spPr>
          <a:xfrm>
            <a:off x="1132920" y="2321640"/>
            <a:ext cx="294120" cy="294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4" name="Text 5"/>
          <p:cNvSpPr/>
          <p:nvPr/>
        </p:nvSpPr>
        <p:spPr>
          <a:xfrm>
            <a:off x="1783080" y="2240280"/>
            <a:ext cx="4023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What we delivered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6"/>
          <p:cNvSpPr/>
          <p:nvPr/>
        </p:nvSpPr>
        <p:spPr>
          <a:xfrm>
            <a:off x="1005840" y="3017520"/>
            <a:ext cx="4708800" cy="31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dcefec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dcefec"/>
                </a:solidFill>
                <a:effectLst/>
                <a:uFillTx/>
                <a:latin typeface="Calibri"/>
                <a:ea typeface="Calibri"/>
              </a:rPr>
              <a:t>A full-stack platform with patient, therapist and admin apps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dcefec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dcefec"/>
                </a:solidFill>
                <a:effectLst/>
                <a:uFillTx/>
                <a:latin typeface="Calibri"/>
                <a:ea typeface="Calibri"/>
              </a:rPr>
              <a:t>A locally-hosted, fine-tuned empathetic AI companion on Ollama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dcefec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dcefec"/>
                </a:solidFill>
                <a:effectLst/>
                <a:uFillTx/>
                <a:latin typeface="Calibri"/>
                <a:ea typeface="Calibri"/>
              </a:rPr>
              <a:t>A crisis-detection safety layer with real-time therapist alerts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dcefec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dcefec"/>
                </a:solidFill>
                <a:effectLst/>
                <a:uFillTx/>
                <a:latin typeface="Calibri"/>
                <a:ea typeface="Calibri"/>
              </a:rPr>
              <a:t>Mood tracking, appointments, secure chat, video &amp; subscriptions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dcefec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dcefec"/>
                </a:solidFill>
                <a:effectLst/>
                <a:uFillTx/>
                <a:latin typeface="Calibri"/>
                <a:ea typeface="Calibri"/>
              </a:rPr>
              <a:t>Secure auth with JWT and two-factor login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7"/>
          <p:cNvSpPr/>
          <p:nvPr/>
        </p:nvSpPr>
        <p:spPr>
          <a:xfrm>
            <a:off x="6199560" y="1828800"/>
            <a:ext cx="5348880" cy="4434480"/>
          </a:xfrm>
          <a:prstGeom prst="roundRect">
            <a:avLst>
              <a:gd name="adj" fmla="val 2062"/>
            </a:avLst>
          </a:prstGeom>
          <a:solidFill>
            <a:srgbClr val="072b29"/>
          </a:solidFill>
          <a:ln w="127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Shape 8"/>
          <p:cNvSpPr/>
          <p:nvPr/>
        </p:nvSpPr>
        <p:spPr>
          <a:xfrm>
            <a:off x="6519600" y="2148840"/>
            <a:ext cx="639720" cy="639720"/>
          </a:xfrm>
          <a:prstGeom prst="ellipse">
            <a:avLst/>
          </a:prstGeom>
          <a:solidFill>
            <a:srgbClr val="0d9488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0b3b38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8" name="Image 2" descr="preencoded.png"/>
          <p:cNvPicPr/>
          <p:nvPr/>
        </p:nvPicPr>
        <p:blipFill>
          <a:blip r:embed="rId3"/>
          <a:stretch/>
        </p:blipFill>
        <p:spPr>
          <a:xfrm>
            <a:off x="6692400" y="2321640"/>
            <a:ext cx="294120" cy="294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9" name="Text 9"/>
          <p:cNvSpPr/>
          <p:nvPr/>
        </p:nvSpPr>
        <p:spPr>
          <a:xfrm>
            <a:off x="7342560" y="2240280"/>
            <a:ext cx="4023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Where we go next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10"/>
          <p:cNvSpPr/>
          <p:nvPr/>
        </p:nvSpPr>
        <p:spPr>
          <a:xfrm>
            <a:off x="6565320" y="3017520"/>
            <a:ext cx="4708800" cy="31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dcefec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dcefec"/>
                </a:solidFill>
                <a:effectLst/>
                <a:uFillTx/>
                <a:latin typeface="Calibri"/>
                <a:ea typeface="Calibri"/>
              </a:rPr>
              <a:t>Mobile apps for iOS and Android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dcefec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dcefec"/>
                </a:solidFill>
                <a:effectLst/>
                <a:uFillTx/>
                <a:latin typeface="Calibri"/>
                <a:ea typeface="Calibri"/>
              </a:rPr>
              <a:t>Larger fine-tuning dataset &amp; multilingual support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dcefec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dcefec"/>
                </a:solidFill>
                <a:effectLst/>
                <a:uFillTx/>
                <a:latin typeface="Calibri"/>
                <a:ea typeface="Calibri"/>
              </a:rPr>
              <a:t>Voice-first conversations with the AI companion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dcefec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dcefec"/>
                </a:solidFill>
                <a:effectLst/>
                <a:uFillTx/>
                <a:latin typeface="Calibri"/>
                <a:ea typeface="Calibri"/>
              </a:rPr>
              <a:t>Wearable &amp; sleep data for richer mood insights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dcefec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dcefec"/>
                </a:solidFill>
                <a:effectLst/>
                <a:uFillTx/>
                <a:latin typeface="Calibri"/>
                <a:ea typeface="Calibri"/>
              </a:rPr>
              <a:t>Clinical validation studies with partner therapists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3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Shape 0"/>
          <p:cNvSpPr/>
          <p:nvPr/>
        </p:nvSpPr>
        <p:spPr>
          <a:xfrm>
            <a:off x="8503920" y="3291840"/>
            <a:ext cx="6400440" cy="6400440"/>
          </a:xfrm>
          <a:prstGeom prst="ellipse">
            <a:avLst/>
          </a:prstGeom>
          <a:solidFill>
            <a:srgbClr val="0f766e">
              <a:alpha val="4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1"/>
          <p:cNvSpPr/>
          <p:nvPr/>
        </p:nvSpPr>
        <p:spPr>
          <a:xfrm>
            <a:off x="-2194560" y="-2377440"/>
            <a:ext cx="4754520" cy="4754520"/>
          </a:xfrm>
          <a:prstGeom prst="ellipse">
            <a:avLst/>
          </a:prstGeom>
          <a:solidFill>
            <a:srgbClr val="5eead4">
              <a:alpha val="14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Shape 2"/>
          <p:cNvSpPr/>
          <p:nvPr/>
        </p:nvSpPr>
        <p:spPr>
          <a:xfrm>
            <a:off x="868680" y="822960"/>
            <a:ext cx="2285640" cy="84096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0">
            <a:noFill/>
          </a:ln>
          <a:effectLst>
            <a:outerShdw algn="bl" blurRad="127080" dir="5400000" dist="38160" kx="0" ky="0" rotWithShape="0" sx="100000" sy="100000">
              <a:srgbClr val="0b3b3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4" name="Image 0" descr="assets/benzi-logo.png"/>
          <p:cNvPicPr/>
          <p:nvPr/>
        </p:nvPicPr>
        <p:blipFill>
          <a:blip r:embed="rId1"/>
          <a:stretch/>
        </p:blipFill>
        <p:spPr>
          <a:xfrm>
            <a:off x="1252800" y="1042560"/>
            <a:ext cx="1517400" cy="512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5" name="Text 3"/>
          <p:cNvSpPr/>
          <p:nvPr/>
        </p:nvSpPr>
        <p:spPr>
          <a:xfrm>
            <a:off x="868680" y="2331720"/>
            <a:ext cx="100580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5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Thank You</a:t>
            </a:r>
            <a:endParaRPr lang="en-US" sz="5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4"/>
          <p:cNvSpPr/>
          <p:nvPr/>
        </p:nvSpPr>
        <p:spPr>
          <a:xfrm>
            <a:off x="896040" y="3429000"/>
            <a:ext cx="10058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900" b="0" i="1" u="none" strike="noStrike">
                <a:solidFill>
                  <a:srgbClr val="5eead4"/>
                </a:solidFill>
                <a:effectLst/>
                <a:uFillTx/>
                <a:latin typeface="Calibri"/>
                <a:ea typeface="Calibri"/>
              </a:rPr>
              <a:t>Questions &amp; Discussion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5"/>
          <p:cNvSpPr/>
          <p:nvPr/>
        </p:nvSpPr>
        <p:spPr>
          <a:xfrm>
            <a:off x="896040" y="5029200"/>
            <a:ext cx="10058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r>
              <a:rPr lang="en-US" sz="1300" b="0" u="none" strike="noStrike">
                <a:solidFill>
                  <a:srgbClr val="c7e6e1"/>
                </a:solidFill>
                <a:effectLst/>
                <a:uFillTx/>
                <a:latin typeface="Calibri"/>
                <a:ea typeface="Calibri"/>
              </a:rPr>
              <a:t>Group F25CS186   ·   Supervisor: Mam Misha Asif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Sameed Saeed  ·  Hassan Hayat  ·  Faziyab Ahmad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LibreOffice/25.8.4.2$MacOSX_X86_64 LibreOffice_project/290daaa01b999472f0c7a3890eb6a550fd74c6df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2026-06-19T21:56:53Z</dcterms:created>
  <dc:creator>Group F25CS186</dc:creator>
  <dc:description/>
  <dc:language>en-US</dc:language>
  <cp:lastModifiedBy/>
  <dcterms:modified xsi:type="dcterms:W3CDTF">2026-06-20T03:05:36Z</dcterms:modified>
  <cp:revision>2</cp:revision>
  <dc:subject>PptxGenJS Presentation</dc:subject>
  <dc:title>Benzi — AI-Assisted Mental Health Support Platform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14</vt:i4>
  </property>
  <property fmtid="{D5CDD505-2E9C-101B-9397-08002B2CF9AE}" pid="3" name="PresentationFormat">
    <vt:lpwstr>On-screen Show (16:9)</vt:lpwstr>
  </property>
  <property fmtid="{D5CDD505-2E9C-101B-9397-08002B2CF9AE}" pid="4" name="Slides">
    <vt:i4>14</vt:i4>
  </property>
</Properties>
</file>